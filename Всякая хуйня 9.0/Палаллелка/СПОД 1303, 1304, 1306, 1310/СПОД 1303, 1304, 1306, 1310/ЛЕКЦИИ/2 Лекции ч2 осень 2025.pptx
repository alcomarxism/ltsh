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xls" ContentType="application/vnd.ms-excel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8"/>
  </p:notesMasterIdLst>
  <p:sldIdLst>
    <p:sldId id="258" r:id="rId2"/>
    <p:sldId id="309" r:id="rId3"/>
    <p:sldId id="290" r:id="rId4"/>
    <p:sldId id="303" r:id="rId5"/>
    <p:sldId id="280" r:id="rId6"/>
    <p:sldId id="291" r:id="rId7"/>
    <p:sldId id="308" r:id="rId8"/>
    <p:sldId id="312" r:id="rId9"/>
    <p:sldId id="296" r:id="rId10"/>
    <p:sldId id="313" r:id="rId11"/>
    <p:sldId id="261" r:id="rId12"/>
    <p:sldId id="265" r:id="rId13"/>
    <p:sldId id="263" r:id="rId14"/>
    <p:sldId id="264" r:id="rId15"/>
    <p:sldId id="266" r:id="rId16"/>
    <p:sldId id="267" r:id="rId17"/>
    <p:sldId id="268" r:id="rId18"/>
    <p:sldId id="269" r:id="rId19"/>
    <p:sldId id="270" r:id="rId20"/>
    <p:sldId id="271" r:id="rId21"/>
    <p:sldId id="273" r:id="rId22"/>
    <p:sldId id="274" r:id="rId23"/>
    <p:sldId id="275" r:id="rId24"/>
    <p:sldId id="276" r:id="rId25"/>
    <p:sldId id="277" r:id="rId26"/>
    <p:sldId id="278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2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statarinov" initials="y" lastIdx="0" clrIdx="0">
    <p:extLst>
      <p:ext uri="{19B8F6BF-5375-455C-9EA6-DF929625EA0E}">
        <p15:presenceInfo xmlns:p15="http://schemas.microsoft.com/office/powerpoint/2012/main" userId="ystatarin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72382" autoAdjust="0"/>
  </p:normalViewPr>
  <p:slideViewPr>
    <p:cSldViewPr snapToGrid="0" showGuides="1">
      <p:cViewPr varScale="1">
        <p:scale>
          <a:sx n="111" d="100"/>
          <a:sy n="111" d="100"/>
        </p:scale>
        <p:origin x="1614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237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12304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aedd97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aedd978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230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aedd978e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6aedd978e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9562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58750" indent="0">
              <a:buNone/>
            </a:pPr>
            <a:endParaRPr lang="ru-RU" altLang="ru-RU" dirty="0" smtClean="0"/>
          </a:p>
        </p:txBody>
      </p:sp>
      <p:sp>
        <p:nvSpPr>
          <p:cNvPr id="116740" name="Номер слайда 3"/>
          <p:cNvSpPr>
            <a:spLocks noGrp="1"/>
          </p:cNvSpPr>
          <p:nvPr>
            <p:ph type="sldNum" sz="quarter" idx="5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ADC2C3-113D-4423-ACA7-05B6D8F70727}" type="slidenum">
              <a:rPr lang="ru-RU" altLang="ru-RU" sz="1200" smtClean="0"/>
              <a:pPr/>
              <a:t>3</a:t>
            </a:fld>
            <a:endParaRPr lang="ru-RU" altLang="ru-RU" sz="1200" smtClean="0"/>
          </a:p>
        </p:txBody>
      </p:sp>
    </p:spTree>
    <p:extLst>
      <p:ext uri="{BB962C8B-B14F-4D97-AF65-F5344CB8AC3E}">
        <p14:creationId xmlns:p14="http://schemas.microsoft.com/office/powerpoint/2010/main" val="2354096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aedd978e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6aedd978e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4725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6aedd978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6aedd978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3291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58750" indent="0">
              <a:buNone/>
            </a:pPr>
            <a:endParaRPr lang="ru-RU" altLang="ru-RU" dirty="0" smtClean="0"/>
          </a:p>
        </p:txBody>
      </p:sp>
      <p:sp>
        <p:nvSpPr>
          <p:cNvPr id="128004" name="Номер слайда 3"/>
          <p:cNvSpPr>
            <a:spLocks noGrp="1"/>
          </p:cNvSpPr>
          <p:nvPr>
            <p:ph type="sldNum" sz="quarter" idx="5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E12A56-D3C1-4A4B-AAA9-C2867A242304}" type="slidenum">
              <a:rPr lang="ru-RU" altLang="ru-RU" sz="1200" smtClean="0"/>
              <a:pPr/>
              <a:t>6</a:t>
            </a:fld>
            <a:endParaRPr lang="ru-RU" altLang="ru-RU" sz="1200" smtClean="0"/>
          </a:p>
        </p:txBody>
      </p:sp>
    </p:spTree>
    <p:extLst>
      <p:ext uri="{BB962C8B-B14F-4D97-AF65-F5344CB8AC3E}">
        <p14:creationId xmlns:p14="http://schemas.microsoft.com/office/powerpoint/2010/main" val="3888429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58750" indent="0">
              <a:buNone/>
            </a:pPr>
            <a:endParaRPr lang="ru-RU" altLang="ru-RU" dirty="0" smtClean="0"/>
          </a:p>
        </p:txBody>
      </p:sp>
      <p:sp>
        <p:nvSpPr>
          <p:cNvPr id="56324" name="Номер слайда 3"/>
          <p:cNvSpPr>
            <a:spLocks noGrp="1"/>
          </p:cNvSpPr>
          <p:nvPr>
            <p:ph type="sldNum" sz="quarter" idx="5"/>
          </p:nvPr>
        </p:nvSpPr>
        <p:spPr bwMode="auto">
          <a:xfrm>
            <a:off x="3849688" y="9378950"/>
            <a:ext cx="294640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B2E250D-A63A-45AE-A939-B913E944F3D5}" type="slidenum">
              <a:rPr lang="ru-RU" altLang="ru-RU" sz="1200" smtClean="0"/>
              <a:pPr/>
              <a:t>9</a:t>
            </a:fld>
            <a:endParaRPr lang="ru-RU" altLang="ru-RU" sz="1200" smtClean="0"/>
          </a:p>
        </p:txBody>
      </p:sp>
    </p:spTree>
    <p:extLst>
      <p:ext uri="{BB962C8B-B14F-4D97-AF65-F5344CB8AC3E}">
        <p14:creationId xmlns:p14="http://schemas.microsoft.com/office/powerpoint/2010/main" val="3700349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aedd978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aedd978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808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aedd978e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6aedd978e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504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aedd978e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aedd978e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4117174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6aedd978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6aedd978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584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6aedd978e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6aedd978e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067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aedd978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aedd978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106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aedd978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aedd978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4591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aedd978e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aedd978e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7363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aedd978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aedd978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946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aedd978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aedd978e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8248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aedd978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6aedd978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0434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aedd978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6aedd978e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2269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0fc2e92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0fc2e92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1579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0fc2e926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0fc2e926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304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6aedd978e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6aedd978e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См. следующий</a:t>
            </a:r>
            <a:r>
              <a:rPr lang="ru-RU" baseline="0" dirty="0" smtClean="0"/>
              <a:t> слайд! </a:t>
            </a:r>
            <a:r>
              <a:rPr lang="en-US" baseline="0" dirty="0" smtClean="0"/>
              <a:t>P = 5  </a:t>
            </a:r>
            <a:r>
              <a:rPr lang="ru-RU" baseline="0" dirty="0" smtClean="0"/>
              <a:t>Альфа</a:t>
            </a:r>
            <a:r>
              <a:rPr lang="en-US" baseline="0" dirty="0" smtClean="0"/>
              <a:t> = 1/6</a:t>
            </a:r>
            <a:r>
              <a:rPr lang="ru-RU" baseline="0" dirty="0" smtClean="0"/>
              <a:t> далее по формуле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4580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0fc2e926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0fc2e926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25690205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aedd978e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6aedd978e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371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aedd978e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6aedd978e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86239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6aedd978e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6aedd978e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10974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6aedd978e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6aedd978e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04969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6aedd978e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6aedd978e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3293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6aedd978e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6aedd978e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2945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6aedd978e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6aedd978e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8499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6aedd978e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6aedd978e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3565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6aedd978e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6aedd978e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3782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6aedd978e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6aedd978e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557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8BA30-9A4E-4735-A019-AED94F2B842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7947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oleObject" Target="../embeddings/_____Microsoft_Excel_97-20031.xls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200" dirty="0"/>
              <a:t>Параллельные алгоритмы</a:t>
            </a:r>
            <a:endParaRPr sz="3200"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Причины использования параллельных алгоритмов:</a:t>
            </a:r>
            <a:endParaRPr dirty="0"/>
          </a:p>
          <a:p>
            <a:pPr lvl="0">
              <a:spcBef>
                <a:spcPts val="1600"/>
              </a:spcBef>
              <a:buAutoNum type="arabicPeriod"/>
            </a:pPr>
            <a:r>
              <a:rPr lang="ru-RU" dirty="0" smtClean="0"/>
              <a:t>С</a:t>
            </a:r>
            <a:r>
              <a:rPr lang="en" dirty="0" smtClean="0"/>
              <a:t>окращение </a:t>
            </a:r>
            <a:r>
              <a:rPr lang="en" dirty="0"/>
              <a:t>времени решения прикладных </a:t>
            </a:r>
            <a:r>
              <a:rPr lang="en" dirty="0" smtClean="0"/>
              <a:t>задач (</a:t>
            </a:r>
            <a:r>
              <a:rPr lang="ru-RU" altLang="ru-RU" dirty="0" err="1"/>
              <a:t>Amdahl's</a:t>
            </a:r>
            <a:r>
              <a:rPr lang="ru-RU" altLang="ru-RU" dirty="0"/>
              <a:t> </a:t>
            </a:r>
            <a:r>
              <a:rPr lang="ru-RU" altLang="ru-RU" dirty="0" err="1" smtClean="0"/>
              <a:t>Law</a:t>
            </a:r>
            <a:r>
              <a:rPr lang="ru-RU" altLang="ru-RU" dirty="0" smtClean="0"/>
              <a:t> (1967</a:t>
            </a:r>
            <a:r>
              <a:rPr lang="en-US" altLang="ru-RU" dirty="0" smtClean="0"/>
              <a:t>)</a:t>
            </a:r>
            <a:r>
              <a:rPr lang="ru-RU" altLang="ru-RU" dirty="0" smtClean="0"/>
              <a:t>)</a:t>
            </a:r>
          </a:p>
          <a:p>
            <a:pPr lvl="0">
              <a:spcBef>
                <a:spcPts val="1600"/>
              </a:spcBef>
              <a:buAutoNum type="arabicPeriod"/>
            </a:pPr>
            <a:endParaRPr dirty="0"/>
          </a:p>
          <a:p>
            <a:pPr lvl="0">
              <a:buAutoNum type="arabicPeriod"/>
            </a:pPr>
            <a:r>
              <a:rPr lang="ru-RU" dirty="0"/>
              <a:t>В</a:t>
            </a:r>
            <a:r>
              <a:rPr lang="en" dirty="0" smtClean="0"/>
              <a:t>озможност</a:t>
            </a:r>
            <a:r>
              <a:rPr lang="ru-RU" dirty="0" smtClean="0"/>
              <a:t>ь</a:t>
            </a:r>
            <a:r>
              <a:rPr lang="en" dirty="0" smtClean="0"/>
              <a:t> </a:t>
            </a:r>
            <a:r>
              <a:rPr lang="en" dirty="0"/>
              <a:t>решения </a:t>
            </a:r>
            <a:r>
              <a:rPr lang="en" dirty="0" smtClean="0"/>
              <a:t>б</a:t>
            </a:r>
            <a:r>
              <a:rPr lang="ru-RU" dirty="0"/>
              <a:t>о</a:t>
            </a:r>
            <a:r>
              <a:rPr lang="en" dirty="0" smtClean="0"/>
              <a:t>льших </a:t>
            </a:r>
            <a:r>
              <a:rPr lang="en" dirty="0"/>
              <a:t>задач за заданное </a:t>
            </a:r>
            <a:r>
              <a:rPr lang="en" dirty="0" smtClean="0"/>
              <a:t>время </a:t>
            </a:r>
            <a:r>
              <a:rPr lang="en" dirty="0"/>
              <a:t>(</a:t>
            </a:r>
            <a:r>
              <a:rPr lang="en-US" altLang="ru-RU" dirty="0"/>
              <a:t>Gustafson – </a:t>
            </a:r>
            <a:r>
              <a:rPr lang="en-US" altLang="ru-RU" dirty="0" err="1"/>
              <a:t>Barsis's</a:t>
            </a:r>
            <a:r>
              <a:rPr lang="en-US" altLang="ru-RU" dirty="0"/>
              <a:t> law</a:t>
            </a:r>
            <a:r>
              <a:rPr lang="ru-RU" altLang="ru-RU" dirty="0"/>
              <a:t> (1988</a:t>
            </a:r>
            <a:r>
              <a:rPr lang="ru-RU" altLang="ru-RU" dirty="0" smtClean="0"/>
              <a:t>)</a:t>
            </a:r>
            <a:r>
              <a:rPr lang="en-US" altLang="ru-RU" dirty="0" smtClean="0"/>
              <a:t>).</a:t>
            </a:r>
            <a:r>
              <a:rPr lang="ru-RU" altLang="ru-RU" dirty="0" smtClean="0"/>
              <a:t> </a:t>
            </a:r>
            <a:endParaRPr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Оценка максимально достижимого параллелизма</a:t>
            </a:r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402782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Как определить качество параллельного </a:t>
            </a:r>
            <a:r>
              <a:rPr lang="en" dirty="0" smtClean="0"/>
              <a:t>алгоритма?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               </a:t>
            </a:r>
            <a:r>
              <a:rPr lang="ru-RU" dirty="0" smtClean="0"/>
              <a:t>ускорение</a:t>
            </a:r>
            <a:r>
              <a:rPr lang="en" dirty="0" smtClean="0"/>
              <a:t> S=p</a:t>
            </a:r>
            <a:endParaRPr lang="ru-RU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	</a:t>
            </a:r>
            <a:r>
              <a:rPr lang="ru-RU" dirty="0" smtClean="0"/>
              <a:t>эффективность</a:t>
            </a:r>
            <a:r>
              <a:rPr lang="en" dirty="0" smtClean="0"/>
              <a:t> E=1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smtClean="0"/>
              <a:t>Алгоритм</a:t>
            </a:r>
            <a:r>
              <a:rPr lang="en" sz="1400" dirty="0" smtClean="0"/>
              <a:t> счита</a:t>
            </a:r>
            <a:r>
              <a:rPr lang="ru-RU" sz="1400" dirty="0" err="1" smtClean="0"/>
              <a:t>ется</a:t>
            </a:r>
            <a:r>
              <a:rPr lang="ru-RU" sz="1400" dirty="0" smtClean="0"/>
              <a:t> </a:t>
            </a:r>
            <a:r>
              <a:rPr lang="ru-RU" sz="1400" dirty="0"/>
              <a:t>э</a:t>
            </a:r>
            <a:r>
              <a:rPr lang="en" sz="1400" dirty="0" smtClean="0"/>
              <a:t>фективным, </a:t>
            </a:r>
            <a:r>
              <a:rPr lang="ru-RU" sz="1400" dirty="0" smtClean="0"/>
              <a:t>ускорение</a:t>
            </a:r>
            <a:r>
              <a:rPr lang="en" sz="1400" dirty="0" smtClean="0"/>
              <a:t> </a:t>
            </a:r>
            <a:r>
              <a:rPr lang="en" sz="1400" dirty="0"/>
              <a:t>которого, по крайней мере, ограничена некоторой константой, а не стремится к нулю с ростом </a:t>
            </a:r>
            <a:r>
              <a:rPr lang="en" sz="1400" b="1" dirty="0"/>
              <a:t>n</a:t>
            </a:r>
            <a:r>
              <a:rPr lang="en" sz="1400" dirty="0"/>
              <a:t> и </a:t>
            </a:r>
            <a:r>
              <a:rPr lang="en" sz="1400" b="1" dirty="0"/>
              <a:t>p</a:t>
            </a:r>
            <a:r>
              <a:rPr lang="en" sz="1400" dirty="0" smtClean="0"/>
              <a:t>.</a:t>
            </a:r>
            <a:endParaRPr lang="ru-RU" sz="14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aphicFrame>
        <p:nvGraphicFramePr>
          <p:cNvPr id="5" name="Объект 10"/>
          <p:cNvGraphicFramePr>
            <a:graphicFrameLocks/>
          </p:cNvGraphicFramePr>
          <p:nvPr>
            <p:extLst/>
          </p:nvPr>
        </p:nvGraphicFramePr>
        <p:xfrm>
          <a:off x="4800571" y="1152475"/>
          <a:ext cx="3671887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Диаграмма" r:id="rId5" imgW="4432176" imgH="3426249" progId="Excel.Chart.8">
                  <p:embed/>
                </p:oleObj>
              </mc:Choice>
              <mc:Fallback>
                <p:oleObj name="Диаграмма" r:id="rId5" imgW="4432176" imgH="3426249" progId="Excel.Chart.8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571" y="1152475"/>
                        <a:ext cx="3671887" cy="341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865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2700" b="1" dirty="0" err="1"/>
              <a:t>Amdahl's</a:t>
            </a:r>
            <a:r>
              <a:rPr lang="ru-RU" altLang="ru-RU" sz="2700" b="1" dirty="0"/>
              <a:t> </a:t>
            </a:r>
            <a:r>
              <a:rPr lang="ru-RU" altLang="ru-RU" sz="2700" b="1" dirty="0" err="1" smtClean="0"/>
              <a:t>Law</a:t>
            </a:r>
            <a:r>
              <a:rPr lang="ru-RU" altLang="ru-RU" sz="2700" b="1" dirty="0" smtClean="0"/>
              <a:t> (1967)</a:t>
            </a:r>
            <a:endParaRPr lang="en-US" altLang="ru-RU" sz="2700" b="1" dirty="0"/>
          </a:p>
        </p:txBody>
      </p:sp>
      <p:sp>
        <p:nvSpPr>
          <p:cNvPr id="115715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B26B56D-8B51-443F-AA64-3AA8ECC21187}" type="slidenum">
              <a:rPr lang="ru-RU" altLang="ru-RU" sz="1050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ru-RU" altLang="ru-RU" sz="1050">
              <a:latin typeface="Times New Roman" panose="02020603050405020304" pitchFamily="18" charset="0"/>
            </a:endParaRPr>
          </a:p>
        </p:txBody>
      </p:sp>
      <p:pic>
        <p:nvPicPr>
          <p:cNvPr id="115716" name="Объект 5" descr="amdal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846" y="1731008"/>
            <a:ext cx="1866456" cy="1396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5718" name="TextBox 10"/>
          <p:cNvSpPr txBox="1">
            <a:spLocks noChangeArrowheads="1"/>
          </p:cNvSpPr>
          <p:nvPr/>
        </p:nvSpPr>
        <p:spPr bwMode="auto">
          <a:xfrm>
            <a:off x="1738837" y="3360412"/>
            <a:ext cx="13065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b="1" dirty="0">
                <a:latin typeface="Times New Roman" panose="02020603050405020304" pitchFamily="18" charset="0"/>
              </a:rPr>
              <a:t>1922-2015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3887575" y="1731008"/>
            <a:ext cx="424732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 smtClean="0">
                <a:latin typeface="Times New Roman" panose="02020603050405020304" pitchFamily="18" charset="0"/>
              </a:rPr>
              <a:t>Американский ученый в области компьютерных технологий, математик и бизнесмен, наиболее известен своей работой в фирме </a:t>
            </a:r>
            <a:r>
              <a:rPr lang="en-US" altLang="ru-RU" sz="1800" dirty="0" smtClean="0">
                <a:latin typeface="Times New Roman" panose="02020603050405020304" pitchFamily="18" charset="0"/>
              </a:rPr>
              <a:t>IBM</a:t>
            </a:r>
            <a:r>
              <a:rPr lang="ru-RU" altLang="ru-RU" sz="1800" dirty="0" smtClean="0">
                <a:latin typeface="Times New Roman" panose="02020603050405020304" pitchFamily="18" charset="0"/>
              </a:rPr>
              <a:t>. В последствии основал компанию </a:t>
            </a:r>
            <a:r>
              <a:rPr lang="en-US" altLang="ru-RU" sz="1800" dirty="0" smtClean="0">
                <a:latin typeface="Times New Roman" panose="02020603050405020304" pitchFamily="18" charset="0"/>
              </a:rPr>
              <a:t> </a:t>
            </a:r>
            <a:r>
              <a:rPr lang="en-US" altLang="ru-RU" sz="1800" i="1" dirty="0" smtClean="0">
                <a:latin typeface="Times New Roman" panose="02020603050405020304" pitchFamily="18" charset="0"/>
              </a:rPr>
              <a:t>Amdahl Corporation</a:t>
            </a:r>
            <a:r>
              <a:rPr lang="en-US" altLang="ru-RU" sz="1800" dirty="0" smtClean="0">
                <a:latin typeface="Times New Roman" panose="02020603050405020304" pitchFamily="18" charset="0"/>
              </a:rPr>
              <a:t> .</a:t>
            </a:r>
            <a:endParaRPr lang="ru-RU" altLang="ru-RU" sz="1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83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Закон Амдала</a:t>
            </a:r>
            <a:endParaRPr/>
          </a:p>
        </p:txBody>
      </p:sp>
      <p:pic>
        <p:nvPicPr>
          <p:cNvPr id="217" name="Google Shape;217;p34" descr="762458af2db440689cc60f641ff03e4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25" y="1375924"/>
            <a:ext cx="3729675" cy="22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>
            <a:spLocks noGrp="1"/>
          </p:cNvSpPr>
          <p:nvPr>
            <p:ph type="body" idx="2"/>
          </p:nvPr>
        </p:nvSpPr>
        <p:spPr>
          <a:xfrm>
            <a:off x="4699819" y="1152475"/>
            <a:ext cx="413248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 dirty="0"/>
              <a:t>Sp</a:t>
            </a:r>
            <a:r>
              <a:rPr lang="en" dirty="0"/>
              <a:t> - ускорение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ru-RU" b="1" dirty="0" smtClean="0"/>
              <a:t>α</a:t>
            </a:r>
            <a:r>
              <a:rPr lang="en" dirty="0" smtClean="0"/>
              <a:t> </a:t>
            </a:r>
            <a:r>
              <a:rPr lang="en" dirty="0"/>
              <a:t>- доля последовательного кода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i="1" dirty="0"/>
              <a:t>p</a:t>
            </a:r>
            <a:r>
              <a:rPr lang="en" dirty="0"/>
              <a:t> - количество процессоров</a:t>
            </a:r>
            <a:endParaRPr dirty="0"/>
          </a:p>
          <a:p>
            <a:pPr lvl="0">
              <a:spcBef>
                <a:spcPts val="1600"/>
              </a:spcBef>
              <a:buAutoNum type="arabicPeriod"/>
            </a:pPr>
            <a:r>
              <a:rPr lang="en" dirty="0"/>
              <a:t>Чем больше </a:t>
            </a:r>
            <a:r>
              <a:rPr lang="ru-RU" b="1" dirty="0"/>
              <a:t>α</a:t>
            </a:r>
            <a:r>
              <a:rPr lang="en" dirty="0" smtClean="0"/>
              <a:t> </a:t>
            </a:r>
            <a:r>
              <a:rPr lang="en" dirty="0"/>
              <a:t>тем меньше ускорение</a:t>
            </a:r>
            <a:endParaRPr dirty="0"/>
          </a:p>
          <a:p>
            <a:pPr lvl="0">
              <a:buAutoNum type="arabicPeriod"/>
            </a:pPr>
            <a:r>
              <a:rPr lang="en" dirty="0"/>
              <a:t>Прирост эффективности вычислений зависит от алгоритма задачи и ограничен сверху для любой задачи с </a:t>
            </a:r>
            <a:r>
              <a:rPr lang="ru-RU" b="1" dirty="0"/>
              <a:t>α</a:t>
            </a:r>
            <a:r>
              <a:rPr lang="en" dirty="0" smtClean="0"/>
              <a:t> = </a:t>
            </a:r>
            <a:r>
              <a:rPr lang="en" dirty="0"/>
              <a:t>0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Чем больше кода для </a:t>
            </a:r>
            <a:r>
              <a:rPr lang="en" b="1" dirty="0" smtClean="0"/>
              <a:t>синхронизации</a:t>
            </a:r>
            <a:r>
              <a:rPr lang="en" dirty="0" smtClean="0"/>
              <a:t> </a:t>
            </a:r>
            <a:r>
              <a:rPr lang="en" dirty="0"/>
              <a:t>тем меньше ускорение</a:t>
            </a:r>
            <a:endParaRPr dirty="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9" name="TextBox 8"/>
          <p:cNvSpPr txBox="1"/>
          <p:nvPr/>
        </p:nvSpPr>
        <p:spPr>
          <a:xfrm>
            <a:off x="1316143" y="4384209"/>
            <a:ext cx="59727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учета накладных расходов на синхронизацию!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82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Закон Амдала</a:t>
            </a:r>
            <a:endParaRPr dirty="0"/>
          </a:p>
        </p:txBody>
      </p:sp>
      <p:pic>
        <p:nvPicPr>
          <p:cNvPr id="251" name="Google Shape;251;p37" descr="648px-AmdahlsLaw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262" y="1032117"/>
            <a:ext cx="4841475" cy="36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Заголовок 1"/>
          <p:cNvSpPr>
            <a:spLocks noGrp="1"/>
          </p:cNvSpPr>
          <p:nvPr>
            <p:ph type="title"/>
          </p:nvPr>
        </p:nvSpPr>
        <p:spPr>
          <a:xfrm>
            <a:off x="343505" y="192486"/>
            <a:ext cx="8520600" cy="572700"/>
          </a:xfrm>
        </p:spPr>
        <p:txBody>
          <a:bodyPr/>
          <a:lstStyle/>
          <a:p>
            <a:pPr eaLnBrk="1" hangingPunct="1"/>
            <a:r>
              <a:rPr lang="en-US" altLang="ru-RU" sz="3000" b="1" dirty="0" smtClean="0"/>
              <a:t>Gustafson's </a:t>
            </a:r>
            <a:r>
              <a:rPr lang="en-US" altLang="ru-RU" sz="3000" b="1" dirty="0"/>
              <a:t>law</a:t>
            </a:r>
            <a:r>
              <a:rPr lang="ru-RU" altLang="ru-RU" sz="3000" b="1" dirty="0"/>
              <a:t> (1988)</a:t>
            </a:r>
          </a:p>
        </p:txBody>
      </p:sp>
      <p:pic>
        <p:nvPicPr>
          <p:cNvPr id="126979" name="Объект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38963" y="1088540"/>
            <a:ext cx="1278611" cy="1786327"/>
          </a:xfrm>
        </p:spPr>
      </p:pic>
      <p:sp>
        <p:nvSpPr>
          <p:cNvPr id="126980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983EDD4-FA01-4194-BBD2-1FDDFA66C04A}" type="slidenum">
              <a:rPr lang="ru-RU" altLang="ru-RU" sz="1050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ru-RU" altLang="ru-RU" sz="1050">
              <a:latin typeface="Times New Roman" panose="02020603050405020304" pitchFamily="18" charset="0"/>
            </a:endParaRPr>
          </a:p>
        </p:txBody>
      </p:sp>
      <p:sp>
        <p:nvSpPr>
          <p:cNvPr id="126981" name="TextBox 5"/>
          <p:cNvSpPr txBox="1">
            <a:spLocks noChangeArrowheads="1"/>
          </p:cNvSpPr>
          <p:nvPr/>
        </p:nvSpPr>
        <p:spPr bwMode="auto">
          <a:xfrm>
            <a:off x="343504" y="947362"/>
            <a:ext cx="616861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b="1" dirty="0">
                <a:latin typeface="Times New Roman" panose="02020603050405020304" pitchFamily="18" charset="0"/>
              </a:rPr>
              <a:t>John Leroy Gustafson</a:t>
            </a:r>
            <a:r>
              <a:rPr lang="en-US" altLang="ru-RU" sz="1800" dirty="0">
                <a:latin typeface="Times New Roman" panose="02020603050405020304" pitchFamily="18" charset="0"/>
              </a:rPr>
              <a:t> (born January 19, 1955) is an American computer scientist and businessman, chiefly known for his work in High Performance Computing (HPC)</a:t>
            </a:r>
            <a:endParaRPr lang="ru-RU" altLang="ru-RU" sz="1800" dirty="0">
              <a:latin typeface="Times New Roman" panose="02020603050405020304" pitchFamily="18" charset="0"/>
            </a:endParaRPr>
          </a:p>
        </p:txBody>
      </p:sp>
      <p:sp>
        <p:nvSpPr>
          <p:cNvPr id="126982" name="TextBox 7"/>
          <p:cNvSpPr txBox="1">
            <a:spLocks noChangeArrowheads="1"/>
          </p:cNvSpPr>
          <p:nvPr/>
        </p:nvSpPr>
        <p:spPr bwMode="auto">
          <a:xfrm>
            <a:off x="338415" y="1893324"/>
            <a:ext cx="634514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b="1" dirty="0">
                <a:latin typeface="Times New Roman" panose="02020603050405020304" pitchFamily="18" charset="0"/>
              </a:rPr>
              <a:t>Main idea: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</a:rPr>
              <a:t>Speedup can be regarded as </a:t>
            </a:r>
            <a:r>
              <a:rPr lang="en-US" altLang="ru-RU" sz="1800" i="1" dirty="0">
                <a:latin typeface="Times New Roman" panose="02020603050405020304" pitchFamily="18" charset="0"/>
              </a:rPr>
              <a:t>an increase in the volume</a:t>
            </a:r>
            <a:r>
              <a:rPr lang="en-US" altLang="ru-RU" sz="1800" dirty="0">
                <a:latin typeface="Times New Roman" panose="02020603050405020304" pitchFamily="18" charset="0"/>
              </a:rPr>
              <a:t> problem </a:t>
            </a:r>
            <a:r>
              <a:rPr lang="en-US" altLang="ru-RU" sz="1800" i="1" dirty="0">
                <a:latin typeface="Times New Roman" panose="02020603050405020304" pitchFamily="18" charset="0"/>
              </a:rPr>
              <a:t>for </a:t>
            </a:r>
            <a:r>
              <a:rPr lang="en-US" altLang="ru-RU" sz="1800" b="1" i="1" dirty="0">
                <a:latin typeface="Times New Roman" panose="02020603050405020304" pitchFamily="18" charset="0"/>
              </a:rPr>
              <a:t>constant time </a:t>
            </a:r>
            <a:r>
              <a:rPr lang="en-US" altLang="ru-RU" sz="1800" i="1" dirty="0">
                <a:latin typeface="Times New Roman" panose="02020603050405020304" pitchFamily="18" charset="0"/>
              </a:rPr>
              <a:t>interval</a:t>
            </a:r>
            <a:r>
              <a:rPr lang="en-US" altLang="ru-RU" sz="1800" dirty="0">
                <a:latin typeface="Times New Roman" panose="02020603050405020304" pitchFamily="18" charset="0"/>
              </a:rPr>
              <a:t> </a:t>
            </a:r>
            <a:r>
              <a:rPr lang="en-US" altLang="ru-RU" sz="1800" i="1" dirty="0">
                <a:latin typeface="Times New Roman" panose="02020603050405020304" pitchFamily="18" charset="0"/>
              </a:rPr>
              <a:t>!</a:t>
            </a:r>
            <a:endParaRPr lang="ru-RU" altLang="ru-RU" sz="1800" i="1" dirty="0">
              <a:latin typeface="Times New Roman" panose="02020603050405020304" pitchFamily="18" charset="0"/>
            </a:endParaRPr>
          </a:p>
        </p:txBody>
      </p:sp>
      <p:sp>
        <p:nvSpPr>
          <p:cNvPr id="126984" name="TextBox 11"/>
          <p:cNvSpPr txBox="1">
            <a:spLocks noChangeArrowheads="1"/>
          </p:cNvSpPr>
          <p:nvPr/>
        </p:nvSpPr>
        <p:spPr bwMode="auto">
          <a:xfrm>
            <a:off x="1636384" y="3093910"/>
            <a:ext cx="44279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b="1" dirty="0">
                <a:latin typeface="Times New Roman" panose="02020603050405020304" pitchFamily="18" charset="0"/>
              </a:rPr>
              <a:t>N</a:t>
            </a:r>
            <a:r>
              <a:rPr lang="en-US" altLang="ru-RU" sz="1800" dirty="0">
                <a:latin typeface="Times New Roman" panose="02020603050405020304" pitchFamily="18" charset="0"/>
              </a:rPr>
              <a:t> - number of processors, </a:t>
            </a:r>
            <a:r>
              <a:rPr lang="en-US" altLang="ru-RU" sz="1800" b="1" dirty="0">
                <a:latin typeface="Times New Roman" panose="02020603050405020304" pitchFamily="18" charset="0"/>
              </a:rPr>
              <a:t>s</a:t>
            </a:r>
            <a:r>
              <a:rPr lang="en-US" altLang="ru-RU" sz="1800" dirty="0">
                <a:latin typeface="Times New Roman" panose="02020603050405020304" pitchFamily="18" charset="0"/>
              </a:rPr>
              <a:t> - serial fraction.</a:t>
            </a:r>
            <a:endParaRPr lang="ru-RU" altLang="ru-RU" sz="1800" dirty="0"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8416" y="3521854"/>
            <a:ext cx="8217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Это т.н. ускорение масштабирования - </a:t>
            </a:r>
            <a:r>
              <a:rPr lang="fi-FI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scaled speedup </a:t>
            </a:r>
            <a:endParaRPr lang="ru-RU" sz="18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 показывает, насколько эффективно могут быть организованы параллельные </a:t>
            </a:r>
            <a:r>
              <a:rPr lang="ru-RU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вычисления 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при увеличении сложности решаемых задач.</a:t>
            </a:r>
          </a:p>
          <a:p>
            <a:endParaRPr lang="ru-RU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036" y="2775413"/>
            <a:ext cx="4389500" cy="3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1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Закон </a:t>
            </a:r>
            <a:r>
              <a:rPr lang="ru-RU" dirty="0" err="1" smtClean="0"/>
              <a:t>Густафсона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Закон Амдала предполагает, </a:t>
            </a:r>
            <a:r>
              <a:rPr lang="ru-RU" dirty="0" smtClean="0"/>
              <a:t>что </a:t>
            </a:r>
            <a:r>
              <a:rPr lang="ru-RU" dirty="0"/>
              <a:t>количество процессоров и  </a:t>
            </a:r>
            <a:r>
              <a:rPr lang="ru-RU" u="sng" dirty="0"/>
              <a:t>доля </a:t>
            </a:r>
            <a:r>
              <a:rPr lang="ru-RU" b="1" dirty="0"/>
              <a:t>параллельной части программы </a:t>
            </a:r>
            <a:r>
              <a:rPr lang="ru-RU" dirty="0"/>
              <a:t>независимы, что не совсем </a:t>
            </a:r>
            <a:r>
              <a:rPr lang="ru-RU" dirty="0" smtClean="0"/>
              <a:t>верно.</a:t>
            </a:r>
          </a:p>
          <a:p>
            <a:endParaRPr lang="ru-RU" dirty="0"/>
          </a:p>
          <a:p>
            <a:r>
              <a:rPr lang="ru-RU" dirty="0" smtClean="0"/>
              <a:t>Как </a:t>
            </a:r>
            <a:r>
              <a:rPr lang="ru-RU" dirty="0"/>
              <a:t>правило, задача с фиксированным объемом данных не запускается на различном количестве процессоров (за исключением академических исследований), а </a:t>
            </a:r>
            <a:r>
              <a:rPr lang="ru-RU" b="1" dirty="0"/>
              <a:t>объем данных </a:t>
            </a:r>
            <a:r>
              <a:rPr lang="ru-RU" dirty="0"/>
              <a:t>изменяется в соответствии с количеством процессоров.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Увеличение объема решаемой задачи приводит к увеличению доли параллельной части, т.к. последовательная часть не изменяется</a:t>
            </a:r>
          </a:p>
          <a:p>
            <a:pPr marL="114300" indent="0">
              <a:buNone/>
            </a:pP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1791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42680"/>
          <a:stretch/>
        </p:blipFill>
        <p:spPr>
          <a:xfrm>
            <a:off x="598128" y="-204952"/>
            <a:ext cx="7874330" cy="464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7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Заголовок 1"/>
          <p:cNvSpPr>
            <a:spLocks noGrp="1"/>
          </p:cNvSpPr>
          <p:nvPr>
            <p:ph type="title"/>
          </p:nvPr>
        </p:nvSpPr>
        <p:spPr>
          <a:xfrm>
            <a:off x="311701" y="348814"/>
            <a:ext cx="8520600" cy="572700"/>
          </a:xfrm>
        </p:spPr>
        <p:txBody>
          <a:bodyPr/>
          <a:lstStyle/>
          <a:p>
            <a:pPr algn="ctr" eaLnBrk="1" hangingPunct="1"/>
            <a:r>
              <a:rPr lang="ru-RU" altLang="ru-RU" sz="2400" b="1" dirty="0"/>
              <a:t>Масштабируемость параллельных программ</a:t>
            </a:r>
            <a:endParaRPr lang="en-US" altLang="ru-RU" sz="2400" b="1" dirty="0"/>
          </a:p>
        </p:txBody>
      </p:sp>
      <p:pic>
        <p:nvPicPr>
          <p:cNvPr id="55299" name="Объект 4" descr="C:\Users\ystatarinov\Documents\LETI\Основной УЧЕБНЫЙ ПРОЦЕСС\my ENGLISH course !!!\2019\ЛЕКЦИИ\Картинки из Инета\strongWeakScaling.gif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3686" y="1493155"/>
            <a:ext cx="2293144" cy="3263504"/>
          </a:xfrm>
        </p:spPr>
      </p:pic>
      <p:sp>
        <p:nvSpPr>
          <p:cNvPr id="55300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6EEEFF0-3F80-4EFD-9A63-EABD731AAA5F}" type="slidenum">
              <a:rPr lang="ru-RU" altLang="ru-RU" sz="1050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ru-RU" altLang="ru-RU" sz="1050">
              <a:latin typeface="Times New Roman" panose="02020603050405020304" pitchFamily="18" charset="0"/>
            </a:endParaRPr>
          </a:p>
        </p:txBody>
      </p:sp>
      <p:sp>
        <p:nvSpPr>
          <p:cNvPr id="55301" name="TextBox 1"/>
          <p:cNvSpPr txBox="1">
            <a:spLocks noChangeArrowheads="1"/>
          </p:cNvSpPr>
          <p:nvPr/>
        </p:nvSpPr>
        <p:spPr bwMode="auto">
          <a:xfrm>
            <a:off x="334566" y="856055"/>
            <a:ext cx="194429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100" b="1" dirty="0">
                <a:latin typeface="Times New Roman" panose="02020603050405020304" pitchFamily="18" charset="0"/>
              </a:rPr>
              <a:t>Strong Scaling</a:t>
            </a:r>
            <a:endParaRPr lang="ru-RU" altLang="ru-RU" sz="2100" dirty="0">
              <a:latin typeface="Times New Roman" panose="02020603050405020304" pitchFamily="18" charset="0"/>
            </a:endParaRPr>
          </a:p>
        </p:txBody>
      </p:sp>
      <p:sp>
        <p:nvSpPr>
          <p:cNvPr id="55302" name="TextBox 2"/>
          <p:cNvSpPr txBox="1">
            <a:spLocks noChangeArrowheads="1"/>
          </p:cNvSpPr>
          <p:nvPr/>
        </p:nvSpPr>
        <p:spPr bwMode="auto">
          <a:xfrm>
            <a:off x="6522229" y="882631"/>
            <a:ext cx="183594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100" b="1" dirty="0">
                <a:latin typeface="Times New Roman" panose="02020603050405020304" pitchFamily="18" charset="0"/>
              </a:rPr>
              <a:t>Weak Scaling</a:t>
            </a:r>
            <a:endParaRPr lang="ru-RU" altLang="ru-RU" sz="2100" dirty="0">
              <a:latin typeface="Times New Roman" panose="02020603050405020304" pitchFamily="18" charset="0"/>
            </a:endParaRPr>
          </a:p>
        </p:txBody>
      </p:sp>
      <p:sp>
        <p:nvSpPr>
          <p:cNvPr id="55303" name="TextBox 1"/>
          <p:cNvSpPr txBox="1">
            <a:spLocks noChangeArrowheads="1"/>
          </p:cNvSpPr>
          <p:nvPr/>
        </p:nvSpPr>
        <p:spPr bwMode="auto">
          <a:xfrm>
            <a:off x="3074158" y="2225488"/>
            <a:ext cx="19442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 dirty="0" err="1">
                <a:latin typeface="Times New Roman" panose="02020603050405020304" pitchFamily="18" charset="0"/>
              </a:rPr>
              <a:t>Amdahl's</a:t>
            </a:r>
            <a:r>
              <a:rPr lang="ru-RU" altLang="ru-RU" sz="1800" i="1" dirty="0">
                <a:latin typeface="Times New Roman" panose="02020603050405020304" pitchFamily="18" charset="0"/>
              </a:rPr>
              <a:t> </a:t>
            </a:r>
            <a:r>
              <a:rPr lang="ru-RU" altLang="ru-RU" sz="1800" i="1" dirty="0" err="1">
                <a:latin typeface="Times New Roman" panose="02020603050405020304" pitchFamily="18" charset="0"/>
              </a:rPr>
              <a:t>Law</a:t>
            </a:r>
            <a:endParaRPr lang="ru-RU" altLang="ru-RU" sz="1800" i="1" dirty="0">
              <a:latin typeface="Times New Roman" panose="02020603050405020304" pitchFamily="18" charset="0"/>
            </a:endParaRPr>
          </a:p>
        </p:txBody>
      </p:sp>
      <p:sp>
        <p:nvSpPr>
          <p:cNvPr id="55304" name="TextBox 2"/>
          <p:cNvSpPr txBox="1">
            <a:spLocks noChangeArrowheads="1"/>
          </p:cNvSpPr>
          <p:nvPr/>
        </p:nvSpPr>
        <p:spPr bwMode="auto">
          <a:xfrm>
            <a:off x="3168999" y="3820860"/>
            <a:ext cx="196747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 i="1" dirty="0" smtClean="0">
                <a:latin typeface="Times New Roman" panose="02020603050405020304" pitchFamily="18" charset="0"/>
              </a:rPr>
              <a:t>Gustafson </a:t>
            </a:r>
            <a:r>
              <a:rPr lang="en-US" altLang="ru-RU" sz="2000" i="1" dirty="0">
                <a:latin typeface="Times New Roman" panose="02020603050405020304" pitchFamily="18" charset="0"/>
              </a:rPr>
              <a:t>Law</a:t>
            </a:r>
            <a:endParaRPr lang="ru-RU" altLang="ru-RU" sz="2000" i="1" dirty="0"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74159" y="1575020"/>
            <a:ext cx="5758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b="1" dirty="0"/>
              <a:t>Strong Scaling </a:t>
            </a:r>
            <a:r>
              <a:rPr lang="en-US" altLang="ru-RU" dirty="0"/>
              <a:t>–</a:t>
            </a:r>
            <a:r>
              <a:rPr lang="ru-RU" altLang="ru-RU" dirty="0"/>
              <a:t> (сильное масштабирование)</a:t>
            </a:r>
            <a:r>
              <a:rPr lang="en-US" altLang="ru-RU" dirty="0"/>
              <a:t> </a:t>
            </a:r>
            <a:r>
              <a:rPr lang="ru-RU" altLang="ru-RU" dirty="0"/>
              <a:t>общий размер задачи остается прежним по мере увеличения числа процессоров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074158" y="3059632"/>
            <a:ext cx="5946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b="1" dirty="0"/>
              <a:t>Weak Scaling </a:t>
            </a:r>
            <a:r>
              <a:rPr lang="en-US" altLang="ru-RU" dirty="0"/>
              <a:t>– </a:t>
            </a:r>
            <a:r>
              <a:rPr lang="ru-RU" altLang="ru-RU" dirty="0"/>
              <a:t>(слабое масштабирование) размер задачи увеличивается с той же скоростью, что и количество процессоров, при этом объем работы на процессор остается прежним.</a:t>
            </a:r>
            <a:endParaRPr lang="en-US" alt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700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2400" b="1" dirty="0"/>
              <a:t>Масштабируемость  параллельных программ (</a:t>
            </a:r>
            <a:r>
              <a:rPr lang="en-US" altLang="ru-RU" sz="2400" b="1" dirty="0"/>
              <a:t>Scalability parallel program</a:t>
            </a:r>
            <a:r>
              <a:rPr lang="ru-RU" altLang="ru-RU" sz="2400" b="1" dirty="0"/>
              <a:t>)</a:t>
            </a:r>
            <a:endParaRPr lang="en-US" altLang="ru-RU" sz="2400" b="1" dirty="0"/>
          </a:p>
        </p:txBody>
      </p:sp>
      <p:sp>
        <p:nvSpPr>
          <p:cNvPr id="177155" name="Объект 2"/>
          <p:cNvSpPr>
            <a:spLocks noGrp="1"/>
          </p:cNvSpPr>
          <p:nvPr>
            <p:ph idx="1"/>
          </p:nvPr>
        </p:nvSpPr>
        <p:spPr>
          <a:xfrm>
            <a:off x="311700" y="1254431"/>
            <a:ext cx="8520600" cy="195385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ru-RU" altLang="ru-RU" dirty="0" smtClean="0"/>
              <a:t>Масштабирование </a:t>
            </a:r>
            <a:r>
              <a:rPr lang="ru-RU" altLang="ru-RU" dirty="0"/>
              <a:t>— это то, как изменяется производительность параллельного приложения при увеличении числа процессоров</a:t>
            </a:r>
            <a:r>
              <a:rPr lang="ru-RU" altLang="ru-RU" dirty="0" smtClean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 smtClean="0"/>
              <a:t>Для этого:</a:t>
            </a:r>
            <a:endParaRPr lang="ru-RU" altLang="ru-RU" dirty="0"/>
          </a:p>
        </p:txBody>
      </p:sp>
      <p:sp>
        <p:nvSpPr>
          <p:cNvPr id="177156" name="Номер слайда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6D58D41-54F2-40D0-9F73-F698CC1B1A5C}" type="slidenum">
              <a:rPr lang="ru-RU" altLang="ru-RU" sz="1050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ru-RU" altLang="ru-RU" sz="1050">
              <a:latin typeface="Times New Roman" panose="02020603050405020304" pitchFamily="18" charset="0"/>
            </a:endParaRPr>
          </a:p>
        </p:txBody>
      </p:sp>
      <p:sp>
        <p:nvSpPr>
          <p:cNvPr id="177157" name="Объект 2"/>
          <p:cNvSpPr txBox="1">
            <a:spLocks/>
          </p:cNvSpPr>
          <p:nvPr/>
        </p:nvSpPr>
        <p:spPr bwMode="auto">
          <a:xfrm>
            <a:off x="628650" y="2147384"/>
            <a:ext cx="7886700" cy="2178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1600" dirty="0" smtClean="0">
                <a:solidFill>
                  <a:schemeClr val="dk2"/>
                </a:solidFill>
                <a:latin typeface="Arial"/>
              </a:rPr>
              <a:t>параллельная </a:t>
            </a:r>
            <a:r>
              <a:rPr lang="ru-RU" altLang="ru-RU" sz="1600" dirty="0">
                <a:solidFill>
                  <a:schemeClr val="dk2"/>
                </a:solidFill>
                <a:latin typeface="Arial"/>
              </a:rPr>
              <a:t>программа должна работать на любом количестве процессоров без изменения кода.</a:t>
            </a:r>
          </a:p>
          <a:p>
            <a:pPr eaLnBrk="1" hangingPunct="1"/>
            <a:r>
              <a:rPr lang="ru-RU" altLang="ru-RU" sz="1600" dirty="0">
                <a:solidFill>
                  <a:schemeClr val="dk2"/>
                </a:solidFill>
                <a:latin typeface="Arial"/>
              </a:rPr>
              <a:t>п</a:t>
            </a:r>
            <a:r>
              <a:rPr lang="ru-RU" altLang="ru-RU" sz="1600" dirty="0" smtClean="0">
                <a:solidFill>
                  <a:schemeClr val="dk2"/>
                </a:solidFill>
                <a:latin typeface="Arial"/>
              </a:rPr>
              <a:t>араллельная </a:t>
            </a:r>
            <a:r>
              <a:rPr lang="ru-RU" altLang="ru-RU" sz="1600" dirty="0">
                <a:solidFill>
                  <a:schemeClr val="dk2"/>
                </a:solidFill>
                <a:latin typeface="Arial"/>
              </a:rPr>
              <a:t>программа должна включать дополнительные механизмы масштабируемости </a:t>
            </a:r>
            <a:r>
              <a:rPr lang="ru-RU" altLang="ru-RU" sz="1600" b="1" dirty="0">
                <a:solidFill>
                  <a:schemeClr val="dk2"/>
                </a:solidFill>
                <a:latin typeface="Arial"/>
              </a:rPr>
              <a:t>(</a:t>
            </a:r>
            <a:r>
              <a:rPr lang="en-US" altLang="ru-RU" sz="1600" b="1" dirty="0">
                <a:solidFill>
                  <a:schemeClr val="dk2"/>
                </a:solidFill>
                <a:latin typeface="Arial"/>
              </a:rPr>
              <a:t>additional scalability mechanisms</a:t>
            </a:r>
            <a:r>
              <a:rPr lang="ru-RU" altLang="ru-RU" sz="1600" b="1" dirty="0">
                <a:solidFill>
                  <a:schemeClr val="dk2"/>
                </a:solidFill>
                <a:latin typeface="Arial"/>
              </a:rPr>
              <a:t>)</a:t>
            </a:r>
            <a:r>
              <a:rPr lang="en-US" altLang="ru-RU" sz="1600" b="1" dirty="0">
                <a:solidFill>
                  <a:schemeClr val="dk2"/>
                </a:solidFill>
                <a:latin typeface="Arial"/>
              </a:rPr>
              <a:t>.</a:t>
            </a:r>
            <a:r>
              <a:rPr lang="ru-RU" altLang="ru-RU" sz="1600" b="1" dirty="0">
                <a:solidFill>
                  <a:schemeClr val="dk2"/>
                </a:solidFill>
                <a:latin typeface="Arial"/>
              </a:rPr>
              <a:t> </a:t>
            </a:r>
            <a:r>
              <a:rPr lang="ru-RU" altLang="ru-RU" sz="1600" dirty="0">
                <a:solidFill>
                  <a:schemeClr val="dk2"/>
                </a:solidFill>
                <a:latin typeface="Arial"/>
              </a:rPr>
              <a:t>Для этого </a:t>
            </a:r>
            <a:r>
              <a:rPr lang="ru-RU" altLang="ru-RU" sz="1600" dirty="0" smtClean="0">
                <a:solidFill>
                  <a:schemeClr val="dk2"/>
                </a:solidFill>
                <a:latin typeface="Arial"/>
              </a:rPr>
              <a:t>при запуске </a:t>
            </a:r>
            <a:r>
              <a:rPr lang="ru-RU" altLang="ru-RU" sz="1600" dirty="0">
                <a:solidFill>
                  <a:schemeClr val="dk2"/>
                </a:solidFill>
                <a:latin typeface="Arial"/>
              </a:rPr>
              <a:t>программы автоматически создается структура с данными о количестве запущенных параллельных процессов и реализуется нумерация всех процессов.</a:t>
            </a: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226208" y="3819762"/>
            <a:ext cx="8520600" cy="101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lnSpc>
                <a:spcPct val="100000"/>
              </a:lnSpc>
              <a:buFont typeface="Arial"/>
              <a:buNone/>
            </a:pPr>
            <a:r>
              <a:rPr lang="ru-RU" dirty="0" smtClean="0"/>
              <a:t>При анализе масштабируемости необходимо учитывать </a:t>
            </a:r>
            <a:r>
              <a:rPr lang="ru-RU" i="1" dirty="0" smtClean="0"/>
              <a:t>накладные расходы (</a:t>
            </a:r>
            <a:r>
              <a:rPr lang="ru-RU" i="1" dirty="0" err="1" smtClean="0"/>
              <a:t>total</a:t>
            </a:r>
            <a:r>
              <a:rPr lang="ru-RU" i="1" dirty="0" smtClean="0"/>
              <a:t> </a:t>
            </a:r>
            <a:r>
              <a:rPr lang="ru-RU" i="1" dirty="0" err="1" smtClean="0"/>
              <a:t>overhead</a:t>
            </a:r>
            <a:r>
              <a:rPr lang="ru-RU" i="1" dirty="0" smtClean="0"/>
              <a:t>)</a:t>
            </a:r>
            <a:r>
              <a:rPr lang="ru-RU" dirty="0" smtClean="0"/>
              <a:t>,</a:t>
            </a:r>
            <a:r>
              <a:rPr lang="ru-RU" i="1" dirty="0" smtClean="0"/>
              <a:t> </a:t>
            </a:r>
            <a:r>
              <a:rPr lang="ru-RU" dirty="0" smtClean="0"/>
              <a:t>на организацию взаимодействия процессоров, синхронизацию параллельных вычислений и др.</a:t>
            </a:r>
          </a:p>
        </p:txBody>
      </p:sp>
    </p:spTree>
    <p:extLst>
      <p:ext uri="{BB962C8B-B14F-4D97-AF65-F5344CB8AC3E}">
        <p14:creationId xmlns:p14="http://schemas.microsoft.com/office/powerpoint/2010/main" val="396574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Идеальный параллельный алгоритм</a:t>
            </a: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 dirty="0" smtClean="0"/>
              <a:t>Есть </a:t>
            </a:r>
            <a:r>
              <a:rPr lang="en" dirty="0"/>
              <a:t>возможность одновременного выполнения операций (запас параллелизма)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Допускает возможность равномерного распределения вычислительных операций между процессорами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Обладает низким уровнем накладных </a:t>
            </a:r>
            <a:r>
              <a:rPr lang="en" dirty="0" smtClean="0"/>
              <a:t>расходов</a:t>
            </a:r>
            <a:r>
              <a:rPr lang="ru-RU" dirty="0" smtClean="0"/>
              <a:t> (синхронизация, обмен данными, обработка нескольких параллельных процессов на одном процессоре и т.д.)</a:t>
            </a:r>
            <a:endParaRPr lang="en-US" dirty="0" smtClean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smtClean="0"/>
              <a:t>См. лекция 1</a:t>
            </a:r>
            <a:endParaRPr dirty="0" smtClean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311700" y="24280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Граф алгоритма</a:t>
            </a:r>
            <a:endParaRPr dirty="0"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" sz="1600" dirty="0"/>
              <a:t>Для описания параллельных алгоритмов необходима </a:t>
            </a:r>
            <a:r>
              <a:rPr lang="en" sz="1600" dirty="0" smtClean="0"/>
              <a:t>модель</a:t>
            </a:r>
            <a:r>
              <a:rPr lang="en" sz="1600" dirty="0"/>
              <a:t>, учитывающая как возможность параллельного выполнения операций, так и возможность изменения последовательности выполнения. </a:t>
            </a:r>
            <a:r>
              <a:rPr lang="en" sz="1600" u="sng" dirty="0"/>
              <a:t>Простейшей моделью </a:t>
            </a:r>
            <a:r>
              <a:rPr lang="en" sz="1600" dirty="0"/>
              <a:t>такого рода является </a:t>
            </a:r>
            <a:r>
              <a:rPr lang="en" sz="1600" b="1" dirty="0"/>
              <a:t>граф </a:t>
            </a:r>
            <a:r>
              <a:rPr lang="en" sz="1600" b="1" dirty="0" smtClean="0"/>
              <a:t>алгоритма</a:t>
            </a:r>
            <a:r>
              <a:rPr lang="ru-RU" sz="1600" b="1" dirty="0" smtClean="0"/>
              <a:t> </a:t>
            </a:r>
            <a:r>
              <a:rPr lang="ru-RU" sz="1600" dirty="0"/>
              <a:t>(см., например, </a:t>
            </a:r>
            <a:r>
              <a:rPr lang="fi-FI" sz="1600" dirty="0"/>
              <a:t>Bertsekas and Tsitsiklis (1989), </a:t>
            </a:r>
            <a:r>
              <a:rPr lang="ru-RU" sz="1600" dirty="0"/>
              <a:t>Воеводин В.В. и Воеводин </a:t>
            </a:r>
            <a:r>
              <a:rPr lang="ru-RU" sz="1600" dirty="0" err="1"/>
              <a:t>Вл.В</a:t>
            </a:r>
            <a:r>
              <a:rPr lang="ru-RU" sz="1600" dirty="0"/>
              <a:t>. (2002</a:t>
            </a:r>
            <a:r>
              <a:rPr lang="ru-RU" sz="1600" dirty="0" smtClean="0"/>
              <a:t>))</a:t>
            </a:r>
          </a:p>
          <a:p>
            <a:pPr marL="114300" indent="0">
              <a:buNone/>
            </a:pPr>
            <a:r>
              <a:rPr lang="ru-RU" sz="1600" dirty="0"/>
              <a:t>Для уменьшения сложности материала при построении модели будет предполагаться:</a:t>
            </a:r>
          </a:p>
          <a:p>
            <a:pPr lvl="0"/>
            <a:r>
              <a:rPr lang="ru-RU" sz="1600" dirty="0"/>
              <a:t>что </a:t>
            </a:r>
            <a:r>
              <a:rPr lang="ru-RU" sz="1600" b="1" dirty="0"/>
              <a:t>время</a:t>
            </a:r>
            <a:r>
              <a:rPr lang="ru-RU" sz="1600" dirty="0"/>
              <a:t> выполнения любых вычислительных операций является </a:t>
            </a:r>
            <a:r>
              <a:rPr lang="ru-RU" sz="1600" b="1" dirty="0"/>
              <a:t>одинаковым и равняется 1 </a:t>
            </a:r>
            <a:r>
              <a:rPr lang="ru-RU" sz="1600" dirty="0"/>
              <a:t>(в тех или иных единицах измерения).</a:t>
            </a:r>
          </a:p>
          <a:p>
            <a:pPr lvl="0"/>
            <a:r>
              <a:rPr lang="ru-RU" sz="1600" b="1" dirty="0"/>
              <a:t>передача</a:t>
            </a:r>
            <a:r>
              <a:rPr lang="ru-RU" sz="1600" dirty="0"/>
              <a:t> данных между вычислительными устройствами выполняется </a:t>
            </a:r>
            <a:r>
              <a:rPr lang="ru-RU" sz="1600" b="1" dirty="0"/>
              <a:t>мгновенно</a:t>
            </a:r>
            <a:r>
              <a:rPr lang="ru-RU" sz="1600" dirty="0"/>
              <a:t> без каких-либо затрат </a:t>
            </a:r>
            <a:r>
              <a:rPr lang="ru-RU" sz="1600" dirty="0" smtClean="0"/>
              <a:t>времени.</a:t>
            </a:r>
            <a:endParaRPr lang="ru-RU" sz="1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Последовательный алгоритм</a:t>
            </a:r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Рассмотрим пример:</a:t>
            </a: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X = (a + b) * (c + d)</a:t>
            </a:r>
            <a:endParaRPr dirty="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6925" y="2339463"/>
            <a:ext cx="501015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Прямоугольник 2"/>
          <p:cNvSpPr/>
          <p:nvPr/>
        </p:nvSpPr>
        <p:spPr>
          <a:xfrm>
            <a:off x="693174" y="4045655"/>
            <a:ext cx="742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/>
              <a:t>С одной стороны шаги 1 и 2 можно выполнить в другом порядке, а с другой стороны их можно выполнить одновременно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Параллельный алгоритм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0" y="2033588"/>
            <a:ext cx="4953000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>
            <a:spLocks noGrp="1"/>
          </p:cNvSpPr>
          <p:nvPr>
            <p:ph type="title"/>
          </p:nvPr>
        </p:nvSpPr>
        <p:spPr>
          <a:xfrm>
            <a:off x="311687" y="30596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rgbClr val="000000"/>
              </a:buClr>
              <a:buSzPts val="1100"/>
            </a:pPr>
            <a:r>
              <a:rPr lang="en" dirty="0"/>
              <a:t>Граф </a:t>
            </a:r>
            <a:r>
              <a:rPr lang="en" dirty="0" smtClean="0"/>
              <a:t>алгоритма</a:t>
            </a:r>
            <a:endParaRPr sz="1600" dirty="0"/>
          </a:p>
        </p:txBody>
      </p:sp>
      <p:sp>
        <p:nvSpPr>
          <p:cNvPr id="116" name="Google Shape;11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Граф алгоритма </a:t>
            </a:r>
            <a:r>
              <a:rPr lang="en" b="1" dirty="0"/>
              <a:t>G(V,E)</a:t>
            </a:r>
            <a:r>
              <a:rPr lang="en" dirty="0"/>
              <a:t> — это ориентированный граф, вершинами которого являются операции алгоритма. Две операции </a:t>
            </a:r>
            <a:r>
              <a:rPr lang="en" b="1" dirty="0"/>
              <a:t>u</a:t>
            </a:r>
            <a:r>
              <a:rPr lang="en" dirty="0"/>
              <a:t> и </a:t>
            </a:r>
            <a:r>
              <a:rPr lang="en" b="1" dirty="0"/>
              <a:t>v</a:t>
            </a:r>
            <a:r>
              <a:rPr lang="en" dirty="0"/>
              <a:t> соединены дугой </a:t>
            </a:r>
            <a:r>
              <a:rPr lang="en" b="1" dirty="0"/>
              <a:t>(u,v)</a:t>
            </a:r>
            <a:r>
              <a:rPr lang="en" dirty="0"/>
              <a:t>, если в операции </a:t>
            </a:r>
            <a:r>
              <a:rPr lang="en" b="1" dirty="0"/>
              <a:t>v</a:t>
            </a:r>
            <a:r>
              <a:rPr lang="en" dirty="0"/>
              <a:t> используется результат выполнения операции </a:t>
            </a:r>
            <a:r>
              <a:rPr lang="en" b="1" dirty="0"/>
              <a:t>u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475" y="2272788"/>
            <a:ext cx="515302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Пример: Вычисление площади прямоугольника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571625"/>
            <a:ext cx="59436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311700" y="16972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Граф алгоритма</a:t>
            </a:r>
            <a:endParaRPr dirty="0"/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2697" y="939510"/>
            <a:ext cx="5044026" cy="316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3" name="Прямоугольник 2"/>
          <p:cNvSpPr/>
          <p:nvPr/>
        </p:nvSpPr>
        <p:spPr>
          <a:xfrm>
            <a:off x="528484" y="4209102"/>
            <a:ext cx="80870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Я</a:t>
            </a:r>
            <a:r>
              <a:rPr lang="en" b="1" dirty="0" smtClean="0"/>
              <a:t>рус</a:t>
            </a:r>
            <a:r>
              <a:rPr lang="en" dirty="0" smtClean="0"/>
              <a:t> </a:t>
            </a:r>
            <a:r>
              <a:rPr lang="ru-RU" dirty="0" smtClean="0"/>
              <a:t>- </a:t>
            </a:r>
            <a:r>
              <a:rPr lang="en" dirty="0" smtClean="0"/>
              <a:t>итераци</a:t>
            </a:r>
            <a:r>
              <a:rPr lang="ru-RU" dirty="0" smtClean="0"/>
              <a:t>я</a:t>
            </a:r>
            <a:r>
              <a:rPr lang="en" dirty="0" smtClean="0"/>
              <a:t> </a:t>
            </a:r>
            <a:r>
              <a:rPr lang="en" dirty="0"/>
              <a:t>в </a:t>
            </a:r>
            <a:r>
              <a:rPr lang="en" b="1" dirty="0"/>
              <a:t>параллельном алгоритме</a:t>
            </a:r>
            <a:r>
              <a:rPr lang="en" dirty="0" smtClean="0"/>
              <a:t>,</a:t>
            </a:r>
            <a:endParaRPr lang="ru-RU" dirty="0" smtClean="0"/>
          </a:p>
          <a:p>
            <a:r>
              <a:rPr lang="en" dirty="0" smtClean="0"/>
              <a:t> </a:t>
            </a:r>
            <a:r>
              <a:rPr lang="ru-RU" dirty="0" smtClean="0"/>
              <a:t>В</a:t>
            </a:r>
            <a:r>
              <a:rPr lang="en" b="1" dirty="0" smtClean="0"/>
              <a:t>ершина</a:t>
            </a:r>
            <a:r>
              <a:rPr lang="en" dirty="0" smtClean="0"/>
              <a:t> </a:t>
            </a:r>
            <a:r>
              <a:rPr lang="en" dirty="0"/>
              <a:t>одного яруса </a:t>
            </a:r>
            <a:r>
              <a:rPr lang="ru-RU" dirty="0" smtClean="0"/>
              <a:t>- </a:t>
            </a:r>
            <a:r>
              <a:rPr lang="en" b="1" dirty="0" smtClean="0"/>
              <a:t>операци</a:t>
            </a:r>
            <a:r>
              <a:rPr lang="ru-RU" b="1" dirty="0" smtClean="0"/>
              <a:t>я</a:t>
            </a:r>
            <a:r>
              <a:rPr lang="en" dirty="0" smtClean="0"/>
              <a:t>, </a:t>
            </a:r>
            <a:r>
              <a:rPr lang="en" dirty="0"/>
              <a:t>которая может быть выполнена </a:t>
            </a:r>
            <a:r>
              <a:rPr lang="en" b="1" dirty="0"/>
              <a:t>параллельно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Граф алгоритма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1600" dirty="0"/>
              <a:t>Д</a:t>
            </a:r>
            <a:r>
              <a:rPr lang="en" sz="1600" dirty="0" smtClean="0"/>
              <a:t>ля </a:t>
            </a:r>
            <a:r>
              <a:rPr lang="ru-RU" sz="1600" dirty="0" smtClean="0"/>
              <a:t>рассматриваемого</a:t>
            </a:r>
            <a:r>
              <a:rPr lang="en" sz="1600" dirty="0" smtClean="0"/>
              <a:t> </a:t>
            </a:r>
            <a:r>
              <a:rPr lang="ru-RU" sz="1600" dirty="0" smtClean="0"/>
              <a:t>примера можно выбрать разные параллельные </a:t>
            </a:r>
            <a:r>
              <a:rPr lang="en" sz="1600" dirty="0" smtClean="0"/>
              <a:t>алгоритм</a:t>
            </a:r>
            <a:r>
              <a:rPr lang="ru-RU" sz="1600" dirty="0" smtClean="0"/>
              <a:t>ы</a:t>
            </a:r>
            <a:r>
              <a:rPr lang="en" sz="1600" dirty="0" smtClean="0"/>
              <a:t> </a:t>
            </a:r>
            <a:r>
              <a:rPr lang="en" sz="1600" dirty="0"/>
              <a:t>решения </a:t>
            </a:r>
            <a:r>
              <a:rPr lang="en" sz="1600" dirty="0" smtClean="0"/>
              <a:t>задачи.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1600" dirty="0" smtClean="0"/>
              <a:t>Например:</a:t>
            </a:r>
            <a:endParaRPr sz="1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3" name="Прямоугольник 2"/>
          <p:cNvSpPr/>
          <p:nvPr/>
        </p:nvSpPr>
        <p:spPr>
          <a:xfrm>
            <a:off x="347127" y="2400054"/>
            <a:ext cx="83996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600" dirty="0">
                <a:solidFill>
                  <a:schemeClr val="dk2"/>
                </a:solidFill>
              </a:rPr>
              <a:t>Можно было </a:t>
            </a:r>
            <a:r>
              <a:rPr lang="ru-RU" sz="1600" dirty="0" smtClean="0">
                <a:solidFill>
                  <a:schemeClr val="dk2"/>
                </a:solidFill>
              </a:rPr>
              <a:t>просто реализовать формулу </a:t>
            </a:r>
            <a:r>
              <a:rPr lang="en-US" sz="1600" dirty="0" smtClean="0">
                <a:solidFill>
                  <a:schemeClr val="dk2"/>
                </a:solidFill>
              </a:rPr>
              <a:t>S = </a:t>
            </a:r>
            <a:r>
              <a:rPr lang="ru-RU" sz="1600" dirty="0" smtClean="0">
                <a:solidFill>
                  <a:schemeClr val="dk2"/>
                </a:solidFill>
              </a:rPr>
              <a:t>(x2-x1</a:t>
            </a:r>
            <a:r>
              <a:rPr lang="ru-RU" sz="1600" dirty="0">
                <a:solidFill>
                  <a:schemeClr val="dk2"/>
                </a:solidFill>
              </a:rPr>
              <a:t>) </a:t>
            </a:r>
            <a:r>
              <a:rPr lang="ru-RU" sz="1600" dirty="0" smtClean="0">
                <a:solidFill>
                  <a:schemeClr val="dk2"/>
                </a:solidFill>
              </a:rPr>
              <a:t>* </a:t>
            </a:r>
            <a:r>
              <a:rPr lang="ru-RU" sz="1600" dirty="0">
                <a:solidFill>
                  <a:schemeClr val="dk2"/>
                </a:solidFill>
              </a:rPr>
              <a:t>(y2 - y1</a:t>
            </a:r>
            <a:r>
              <a:rPr lang="ru-RU" sz="1600" dirty="0" smtClean="0">
                <a:solidFill>
                  <a:schemeClr val="dk2"/>
                </a:solidFill>
              </a:rPr>
              <a:t>).</a:t>
            </a:r>
            <a:endParaRPr lang="ru-RU" sz="1600" dirty="0">
              <a:solidFill>
                <a:schemeClr val="dk2"/>
              </a:solidFill>
            </a:endParaRPr>
          </a:p>
          <a:p>
            <a:pPr lvl="0"/>
            <a:r>
              <a:rPr lang="ru-RU" sz="1600" dirty="0" smtClean="0">
                <a:solidFill>
                  <a:schemeClr val="dk2"/>
                </a:solidFill>
              </a:rPr>
              <a:t>Тогда нужно не </a:t>
            </a:r>
            <a:r>
              <a:rPr lang="ru-RU" sz="1600" dirty="0">
                <a:solidFill>
                  <a:schemeClr val="dk2"/>
                </a:solidFill>
              </a:rPr>
              <a:t>4, а 2 процессора</a:t>
            </a:r>
            <a:r>
              <a:rPr lang="ru-RU" sz="1600" dirty="0" smtClean="0">
                <a:solidFill>
                  <a:schemeClr val="dk2"/>
                </a:solidFill>
              </a:rPr>
              <a:t>.</a:t>
            </a:r>
          </a:p>
          <a:p>
            <a:pPr lvl="0"/>
            <a:endParaRPr lang="ru-RU" sz="1600" u="sng" dirty="0" smtClean="0">
              <a:solidFill>
                <a:schemeClr val="dk2"/>
              </a:solidFill>
            </a:endParaRPr>
          </a:p>
          <a:p>
            <a:pPr lvl="0"/>
            <a:r>
              <a:rPr lang="ru-RU" sz="1600" u="sng" dirty="0" smtClean="0">
                <a:solidFill>
                  <a:schemeClr val="dk2"/>
                </a:solidFill>
              </a:rPr>
              <a:t>Вопрос:</a:t>
            </a:r>
            <a:r>
              <a:rPr lang="ru-RU" sz="1600" dirty="0" smtClean="0">
                <a:solidFill>
                  <a:schemeClr val="dk2"/>
                </a:solidFill>
              </a:rPr>
              <a:t> как </a:t>
            </a:r>
            <a:r>
              <a:rPr lang="ru-RU" sz="1600" dirty="0">
                <a:solidFill>
                  <a:schemeClr val="dk2"/>
                </a:solidFill>
              </a:rPr>
              <a:t>понять, что </a:t>
            </a:r>
            <a:r>
              <a:rPr lang="ru-RU" sz="1600" dirty="0" smtClean="0">
                <a:solidFill>
                  <a:schemeClr val="dk2"/>
                </a:solidFill>
              </a:rPr>
              <a:t>мы выбрали лучший </a:t>
            </a:r>
            <a:r>
              <a:rPr lang="ru-RU" sz="1600" dirty="0">
                <a:solidFill>
                  <a:schemeClr val="dk2"/>
                </a:solidFill>
              </a:rPr>
              <a:t>алгоритм </a:t>
            </a:r>
            <a:r>
              <a:rPr lang="ru-RU" sz="1600" dirty="0" smtClean="0">
                <a:solidFill>
                  <a:schemeClr val="dk2"/>
                </a:solidFill>
              </a:rPr>
              <a:t>- </a:t>
            </a:r>
            <a:r>
              <a:rPr lang="ru-RU" sz="1600" b="1" dirty="0">
                <a:solidFill>
                  <a:schemeClr val="dk2"/>
                </a:solidFill>
              </a:rPr>
              <a:t>нужны </a:t>
            </a:r>
            <a:r>
              <a:rPr lang="ru-RU" sz="1600" b="1" dirty="0" smtClean="0">
                <a:solidFill>
                  <a:schemeClr val="dk2"/>
                </a:solidFill>
              </a:rPr>
              <a:t>метрики – </a:t>
            </a:r>
            <a:r>
              <a:rPr lang="ru-RU" sz="1600" b="1" u="sng" dirty="0" smtClean="0">
                <a:solidFill>
                  <a:schemeClr val="dk2"/>
                </a:solidFill>
              </a:rPr>
              <a:t>показатели эффективности параллельного алгоритма.</a:t>
            </a:r>
            <a:endParaRPr lang="ru-RU" sz="1600" b="1" u="sng"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311700" y="67416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 smtClean="0"/>
              <a:t>Основные</a:t>
            </a:r>
            <a:r>
              <a:rPr lang="ru-RU" sz="2000" dirty="0" smtClean="0"/>
              <a:t> п</a:t>
            </a:r>
            <a:r>
              <a:rPr lang="en" sz="2000" dirty="0" smtClean="0"/>
              <a:t>оказатели </a:t>
            </a:r>
            <a:r>
              <a:rPr lang="en" sz="2000" dirty="0"/>
              <a:t>эффективности параллельного алгоритма</a:t>
            </a:r>
            <a:endParaRPr sz="2000" dirty="0"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11700" y="1873146"/>
            <a:ext cx="8520600" cy="18774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indent="0">
              <a:buSzPts val="2400"/>
              <a:buNone/>
            </a:pPr>
            <a:r>
              <a:rPr lang="ru-RU" b="1" dirty="0"/>
              <a:t>Анализ масштабируемости </a:t>
            </a: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ru-RU" dirty="0" smtClean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 smtClean="0"/>
              <a:t>Ускорение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 smtClean="0"/>
              <a:t>Эффективность</a:t>
            </a:r>
            <a:endParaRPr lang="ru-RU" dirty="0" smtClean="0"/>
          </a:p>
          <a:p>
            <a:pPr indent="-381000">
              <a:buSzPts val="2400"/>
            </a:pPr>
            <a:r>
              <a:rPr lang="ru-RU" dirty="0"/>
              <a:t>Накладные </a:t>
            </a:r>
            <a:r>
              <a:rPr lang="ru-RU" dirty="0" smtClean="0"/>
              <a:t>расходы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dirty="0" smtClean="0"/>
              <a:t>Стоимость</a:t>
            </a:r>
            <a:endParaRPr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311700" y="22559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Ускорение</a:t>
            </a:r>
            <a:r>
              <a:rPr lang="ru-RU" dirty="0" smtClean="0"/>
              <a:t> и эффективность</a:t>
            </a:r>
            <a:endParaRPr dirty="0"/>
          </a:p>
        </p:txBody>
      </p:sp>
      <p:sp>
        <p:nvSpPr>
          <p:cNvPr id="147" name="Google Shape;147;p28"/>
          <p:cNvSpPr txBox="1">
            <a:spLocks noGrp="1"/>
          </p:cNvSpPr>
          <p:nvPr>
            <p:ph type="body" idx="1"/>
          </p:nvPr>
        </p:nvSpPr>
        <p:spPr>
          <a:xfrm>
            <a:off x="311700" y="79829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/>
              <a:t>Ускорение</a:t>
            </a:r>
            <a:r>
              <a:rPr lang="en" sz="1600" dirty="0"/>
              <a:t> </a:t>
            </a:r>
            <a:r>
              <a:rPr lang="en" sz="1600" i="1" dirty="0"/>
              <a:t>(speedup), </a:t>
            </a:r>
            <a:r>
              <a:rPr lang="en" sz="1600" dirty="0"/>
              <a:t>получаемое при использовании параллельного алгоритма для </a:t>
            </a:r>
            <a:r>
              <a:rPr lang="en" sz="1600" b="1" dirty="0"/>
              <a:t>P</a:t>
            </a:r>
            <a:r>
              <a:rPr lang="en" sz="1600" dirty="0"/>
              <a:t> процессоров, по сравнению с последовательным вариантом выполнения </a:t>
            </a:r>
            <a:r>
              <a:rPr lang="en" sz="1600" dirty="0" smtClean="0"/>
              <a:t>вычислений</a:t>
            </a:r>
            <a:r>
              <a:rPr lang="ru-RU" sz="1600" dirty="0" smtClean="0"/>
              <a:t>:</a:t>
            </a:r>
            <a:endParaRPr sz="1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268" y="1409140"/>
            <a:ext cx="2643362" cy="4597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3" name="Прямоугольник 2"/>
          <p:cNvSpPr/>
          <p:nvPr/>
        </p:nvSpPr>
        <p:spPr>
          <a:xfrm>
            <a:off x="311701" y="1900290"/>
            <a:ext cx="84652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 sz="1600" b="1" dirty="0">
                <a:solidFill>
                  <a:schemeClr val="dk2"/>
                </a:solidFill>
              </a:rPr>
              <a:t>n</a:t>
            </a:r>
            <a:r>
              <a:rPr lang="ru-RU" sz="1600" dirty="0">
                <a:solidFill>
                  <a:schemeClr val="dk2"/>
                </a:solidFill>
              </a:rPr>
              <a:t> – параметр вычислительной сложности решаемой задачи (например, количество входных данных задачи).</a:t>
            </a:r>
            <a:endParaRPr lang="en-US" sz="1600" dirty="0">
              <a:solidFill>
                <a:schemeClr val="dk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699" y="2805182"/>
            <a:ext cx="79159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b="1" dirty="0"/>
              <a:t>Эффективность</a:t>
            </a:r>
            <a:r>
              <a:rPr lang="en" dirty="0"/>
              <a:t> </a:t>
            </a:r>
            <a:r>
              <a:rPr lang="en" i="1" dirty="0"/>
              <a:t>(efficiency) </a:t>
            </a:r>
            <a:r>
              <a:rPr lang="en" dirty="0"/>
              <a:t>использования параллельным алгоритмом процессоров при решении задачи</a:t>
            </a:r>
            <a:r>
              <a:rPr lang="ru-RU" dirty="0"/>
              <a:t>:</a:t>
            </a:r>
          </a:p>
          <a:p>
            <a:endParaRPr lang="ru-RU" dirty="0"/>
          </a:p>
        </p:txBody>
      </p:sp>
      <p:pic>
        <p:nvPicPr>
          <p:cNvPr id="9" name="Google Shape;15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2358" y="3211353"/>
            <a:ext cx="3818021" cy="4905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296951" y="3863964"/>
            <a:ext cx="84498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Эффективность параллельного алгоритма показывает время, в течение которого один процессор в </a:t>
            </a:r>
            <a:r>
              <a:rPr lang="ru-RU" b="1" u="sng" dirty="0"/>
              <a:t>среднем </a:t>
            </a:r>
            <a:r>
              <a:rPr lang="ru-RU" dirty="0"/>
              <a:t>занят вычислениями (остальное время он простаивает).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311700" y="9354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Стоимость</a:t>
            </a:r>
            <a:r>
              <a:rPr lang="ru-RU" dirty="0" smtClean="0"/>
              <a:t> и накладные расходы</a:t>
            </a:r>
            <a:endParaRPr dirty="0"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1"/>
          </p:nvPr>
        </p:nvSpPr>
        <p:spPr>
          <a:xfrm>
            <a:off x="379720" y="786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ru-RU" sz="1600" dirty="0" smtClean="0"/>
              <a:t>Накладные расходы</a:t>
            </a:r>
            <a:r>
              <a:rPr lang="en-US" sz="1600" dirty="0" smtClean="0"/>
              <a:t>  </a:t>
            </a:r>
            <a:r>
              <a:rPr lang="en-US" sz="1600" i="1" dirty="0" smtClean="0"/>
              <a:t>T</a:t>
            </a:r>
            <a:r>
              <a:rPr lang="en-US" sz="1600" i="1" baseline="-25000" dirty="0" smtClean="0"/>
              <a:t>0</a:t>
            </a:r>
            <a:r>
              <a:rPr lang="en-US" sz="1600" i="1" dirty="0" smtClean="0"/>
              <a:t> = </a:t>
            </a:r>
            <a:r>
              <a:rPr lang="en-US" sz="1600" i="1" dirty="0" err="1" smtClean="0"/>
              <a:t>pT</a:t>
            </a:r>
            <a:r>
              <a:rPr lang="en-US" sz="1600" i="1" baseline="-25000" dirty="0" err="1" smtClean="0"/>
              <a:t>p</a:t>
            </a:r>
            <a:r>
              <a:rPr lang="en-US" sz="1600" i="1" dirty="0" smtClean="0"/>
              <a:t> – T</a:t>
            </a:r>
            <a:r>
              <a:rPr lang="en-US" sz="1600" i="1" baseline="-25000" dirty="0" smtClean="0"/>
              <a:t>1</a:t>
            </a:r>
            <a:endParaRPr lang="ru-RU" sz="1600" i="1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dirty="0" smtClean="0"/>
              <a:t>Cтоимост</a:t>
            </a:r>
            <a:r>
              <a:rPr lang="ru-RU" sz="1600" dirty="0" smtClean="0"/>
              <a:t>ь</a:t>
            </a:r>
            <a:r>
              <a:rPr lang="en" sz="1600" dirty="0" smtClean="0"/>
              <a:t> </a:t>
            </a:r>
            <a:r>
              <a:rPr lang="en" sz="1600" i="1" dirty="0"/>
              <a:t>(cost) </a:t>
            </a:r>
            <a:r>
              <a:rPr lang="en" sz="1600" dirty="0" smtClean="0"/>
              <a:t>вычислений</a:t>
            </a:r>
          </a:p>
          <a:p>
            <a:pPr lvl="0" fontAlgn="base"/>
            <a:r>
              <a:rPr lang="ru-RU" sz="1600" dirty="0"/>
              <a:t>Если сложность решаемой </a:t>
            </a:r>
            <a:r>
              <a:rPr lang="ru-RU" sz="1600" u="sng" dirty="0"/>
              <a:t>задачи является фиксированной </a:t>
            </a:r>
            <a:r>
              <a:rPr lang="ru-RU" sz="1600" dirty="0"/>
              <a:t>(</a:t>
            </a:r>
            <a:r>
              <a:rPr lang="ru-RU" sz="1600" i="1" dirty="0"/>
              <a:t>T</a:t>
            </a:r>
            <a:r>
              <a:rPr lang="ru-RU" sz="1600" i="1" baseline="-25000" dirty="0"/>
              <a:t>1</a:t>
            </a:r>
            <a:r>
              <a:rPr lang="ru-RU" sz="1600" i="1" dirty="0"/>
              <a:t>=</a:t>
            </a:r>
            <a:r>
              <a:rPr lang="ru-RU" sz="1600" i="1" dirty="0" err="1"/>
              <a:t>const</a:t>
            </a:r>
            <a:r>
              <a:rPr lang="ru-RU" sz="1600" dirty="0"/>
              <a:t>), то при росте числа процессоров эффективность, как правило, будет убывать за счет роста накладных расходов </a:t>
            </a:r>
            <a:r>
              <a:rPr lang="ru-RU" sz="1600" i="1" dirty="0"/>
              <a:t>T</a:t>
            </a:r>
            <a:r>
              <a:rPr lang="ru-RU" sz="1600" i="1" baseline="-25000" dirty="0"/>
              <a:t>0</a:t>
            </a:r>
            <a:r>
              <a:rPr lang="ru-RU" sz="1600" dirty="0"/>
              <a:t>. </a:t>
            </a:r>
          </a:p>
          <a:p>
            <a:pPr lvl="0" fontAlgn="base"/>
            <a:r>
              <a:rPr lang="ru-RU" sz="1600" dirty="0"/>
              <a:t>При </a:t>
            </a:r>
            <a:r>
              <a:rPr lang="ru-RU" sz="1600" u="sng" dirty="0"/>
              <a:t>фиксации числа процессоров </a:t>
            </a:r>
            <a:r>
              <a:rPr lang="ru-RU" sz="1600" dirty="0"/>
              <a:t>эффективность использования процессоров можно улучшить путем повышения сложности решаемой задачи </a:t>
            </a:r>
            <a:r>
              <a:rPr lang="ru-RU" sz="1600" i="1" dirty="0"/>
              <a:t>T</a:t>
            </a:r>
            <a:r>
              <a:rPr lang="ru-RU" sz="1600" i="1" baseline="-25000" dirty="0"/>
              <a:t>1</a:t>
            </a:r>
            <a:r>
              <a:rPr lang="ru-RU" sz="1600" dirty="0"/>
              <a:t>.  </a:t>
            </a:r>
          </a:p>
          <a:p>
            <a:r>
              <a:rPr lang="ru-RU" sz="1600" dirty="0"/>
              <a:t>При увеличении числа процессоров в большинстве случаев можно обеспечить определенный уровень эффективности при помощи соответствующего повышения сложности решаемых задач.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600" dirty="0"/>
          </a:p>
        </p:txBody>
      </p:sp>
      <p:pic>
        <p:nvPicPr>
          <p:cNvPr id="162" name="Google Shape;1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9536" y="1255237"/>
            <a:ext cx="1065673" cy="4267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</a:t>
            </a:r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4550108" y="1640417"/>
            <a:ext cx="4196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S4 = </a:t>
            </a:r>
            <a:r>
              <a:rPr lang="ru-RU" dirty="0"/>
              <a:t>?-ускорение</a:t>
            </a:r>
            <a:endParaRPr lang="ru-RU" dirty="0" smtClean="0"/>
          </a:p>
          <a:p>
            <a:pPr marL="0" lvl="0" indent="0">
              <a:buNone/>
            </a:pPr>
            <a:r>
              <a:rPr lang="ru-RU" dirty="0" smtClean="0"/>
              <a:t>7/3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E4 </a:t>
            </a:r>
            <a:r>
              <a:rPr lang="en" dirty="0" smtClean="0"/>
              <a:t>=  S/p= 7/</a:t>
            </a:r>
            <a:r>
              <a:rPr lang="ru-RU" dirty="0" smtClean="0"/>
              <a:t>3</a:t>
            </a:r>
            <a:r>
              <a:rPr lang="en" dirty="0" smtClean="0"/>
              <a:t>*</a:t>
            </a:r>
            <a:r>
              <a:rPr lang="ru-RU" dirty="0" smtClean="0"/>
              <a:t>4</a:t>
            </a:r>
            <a:r>
              <a:rPr lang="en" dirty="0" smtClean="0"/>
              <a:t> </a:t>
            </a:r>
            <a:r>
              <a:rPr lang="en" dirty="0"/>
              <a:t>= </a:t>
            </a:r>
            <a:r>
              <a:rPr lang="en" dirty="0" smtClean="0"/>
              <a:t>7/12</a:t>
            </a:r>
            <a:r>
              <a:rPr lang="ru-RU" dirty="0" smtClean="0"/>
              <a:t> – эффективность, загрузка процессора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C4 </a:t>
            </a:r>
            <a:r>
              <a:rPr lang="en" dirty="0" smtClean="0"/>
              <a:t>= p*Tp = </a:t>
            </a:r>
            <a:r>
              <a:rPr lang="en" dirty="0"/>
              <a:t>4*3 = </a:t>
            </a:r>
            <a:r>
              <a:rPr lang="en" dirty="0" smtClean="0"/>
              <a:t>12</a:t>
            </a:r>
            <a:r>
              <a:rPr lang="ru-RU" dirty="0" smtClean="0"/>
              <a:t> – стоимость</a:t>
            </a:r>
            <a:r>
              <a:rPr lang="en-US" dirty="0" smtClean="0"/>
              <a:t> </a:t>
            </a:r>
            <a:r>
              <a:rPr lang="en" dirty="0"/>
              <a:t/>
            </a:r>
            <a:br>
              <a:rPr lang="en" dirty="0"/>
            </a:br>
            <a:endParaRPr dirty="0"/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25" y="1615725"/>
            <a:ext cx="4007524" cy="251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3" name="Прямоугольник 2"/>
          <p:cNvSpPr/>
          <p:nvPr/>
        </p:nvSpPr>
        <p:spPr>
          <a:xfrm>
            <a:off x="3542849" y="3762424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ru-RU" sz="1600" dirty="0" smtClean="0"/>
              <a:t>Можно </a:t>
            </a:r>
            <a:r>
              <a:rPr lang="ru-RU" sz="1600" dirty="0"/>
              <a:t>сравнить с решением в </a:t>
            </a:r>
            <a:r>
              <a:rPr lang="ru-RU" sz="1600" dirty="0" smtClean="0"/>
              <a:t>лоб</a:t>
            </a:r>
          </a:p>
          <a:p>
            <a:pPr lvl="0"/>
            <a:r>
              <a:rPr lang="ru-RU" sz="1600" dirty="0" smtClean="0"/>
              <a:t> </a:t>
            </a:r>
            <a:r>
              <a:rPr lang="ru-RU" sz="1600" dirty="0"/>
              <a:t>(x2-x1)*(y2-y1). </a:t>
            </a:r>
            <a:endParaRPr lang="ru-RU" sz="1600" dirty="0" smtClean="0"/>
          </a:p>
          <a:p>
            <a:pPr lvl="0"/>
            <a:r>
              <a:rPr lang="ru-RU" sz="1600" dirty="0" smtClean="0"/>
              <a:t>Нужно </a:t>
            </a:r>
            <a:r>
              <a:rPr lang="ru-RU" sz="1600" dirty="0"/>
              <a:t>сравнивать с </a:t>
            </a:r>
            <a:r>
              <a:rPr lang="ru-RU" sz="1600" b="1" dirty="0"/>
              <a:t>лучшим последовательным алгоритмом</a:t>
            </a:r>
            <a:r>
              <a:rPr lang="ru-RU" sz="16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09607"/>
            <a:ext cx="2479729" cy="30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 = ?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Оценка максимально достижимого параллелизма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2"/>
          <p:cNvSpPr txBox="1">
            <a:spLocks noGrp="1"/>
          </p:cNvSpPr>
          <p:nvPr>
            <p:ph type="body" idx="1"/>
          </p:nvPr>
        </p:nvSpPr>
        <p:spPr>
          <a:xfrm>
            <a:off x="4598448" y="2083650"/>
            <a:ext cx="4249200" cy="10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 smtClean="0"/>
              <a:t>S </a:t>
            </a:r>
            <a:r>
              <a:rPr lang="en" sz="2400" dirty="0"/>
              <a:t>= 5/1 = 5</a:t>
            </a:r>
            <a:endParaRPr sz="2400" dirty="0"/>
          </a:p>
        </p:txBody>
      </p:sp>
      <p:grpSp>
        <p:nvGrpSpPr>
          <p:cNvPr id="4" name="Группа 3"/>
          <p:cNvGrpSpPr/>
          <p:nvPr/>
        </p:nvGrpSpPr>
        <p:grpSpPr>
          <a:xfrm>
            <a:off x="453600" y="1887525"/>
            <a:ext cx="3638800" cy="1368450"/>
            <a:chOff x="453600" y="1887525"/>
            <a:chExt cx="3638800" cy="1368450"/>
          </a:xfrm>
        </p:grpSpPr>
        <p:sp>
          <p:nvSpPr>
            <p:cNvPr id="176" name="Google Shape;176;p32"/>
            <p:cNvSpPr/>
            <p:nvPr/>
          </p:nvSpPr>
          <p:spPr>
            <a:xfrm>
              <a:off x="453600" y="1887525"/>
              <a:ext cx="538200" cy="538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FFFFFF"/>
                  </a:solidFill>
                </a:rPr>
                <a:t>1</a:t>
              </a:r>
              <a:endParaRPr b="1" dirty="0">
                <a:solidFill>
                  <a:srgbClr val="FFFFFF"/>
                </a:solidFill>
              </a:endParaRPr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580500" y="2971575"/>
              <a:ext cx="284400" cy="284400"/>
            </a:xfrm>
            <a:prstGeom prst="smileyFace">
              <a:avLst>
                <a:gd name="adj" fmla="val 4653"/>
              </a:avLst>
            </a:prstGeom>
            <a:solidFill>
              <a:srgbClr val="F1C232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8" name="Google Shape;178;p32"/>
            <p:cNvCxnSpPr>
              <a:stCxn id="177" idx="0"/>
              <a:endCxn id="176" idx="2"/>
            </p:cNvCxnSpPr>
            <p:nvPr/>
          </p:nvCxnSpPr>
          <p:spPr>
            <a:xfrm rot="10800000">
              <a:off x="722700" y="2425875"/>
              <a:ext cx="0" cy="54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9" name="Google Shape;179;p32"/>
            <p:cNvSpPr/>
            <p:nvPr/>
          </p:nvSpPr>
          <p:spPr>
            <a:xfrm>
              <a:off x="1228750" y="1887525"/>
              <a:ext cx="538200" cy="538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</a:rPr>
                <a:t>1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80" name="Google Shape;180;p32"/>
            <p:cNvSpPr/>
            <p:nvPr/>
          </p:nvSpPr>
          <p:spPr>
            <a:xfrm>
              <a:off x="1355650" y="2971575"/>
              <a:ext cx="284400" cy="284400"/>
            </a:xfrm>
            <a:prstGeom prst="smileyFace">
              <a:avLst>
                <a:gd name="adj" fmla="val 4653"/>
              </a:avLst>
            </a:prstGeom>
            <a:solidFill>
              <a:srgbClr val="F1C232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1" name="Google Shape;181;p32"/>
            <p:cNvCxnSpPr>
              <a:stCxn id="180" idx="0"/>
              <a:endCxn id="179" idx="2"/>
            </p:cNvCxnSpPr>
            <p:nvPr/>
          </p:nvCxnSpPr>
          <p:spPr>
            <a:xfrm rot="10800000">
              <a:off x="1497850" y="2425875"/>
              <a:ext cx="0" cy="54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2" name="Google Shape;182;p32"/>
            <p:cNvSpPr/>
            <p:nvPr/>
          </p:nvSpPr>
          <p:spPr>
            <a:xfrm>
              <a:off x="2003900" y="1887525"/>
              <a:ext cx="538200" cy="538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</a:rPr>
                <a:t>1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83" name="Google Shape;183;p32"/>
            <p:cNvSpPr/>
            <p:nvPr/>
          </p:nvSpPr>
          <p:spPr>
            <a:xfrm>
              <a:off x="2130800" y="2971575"/>
              <a:ext cx="284400" cy="284400"/>
            </a:xfrm>
            <a:prstGeom prst="smileyFace">
              <a:avLst>
                <a:gd name="adj" fmla="val 4653"/>
              </a:avLst>
            </a:prstGeom>
            <a:solidFill>
              <a:srgbClr val="F1C232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4" name="Google Shape;184;p32"/>
            <p:cNvCxnSpPr>
              <a:stCxn id="183" idx="0"/>
              <a:endCxn id="182" idx="2"/>
            </p:cNvCxnSpPr>
            <p:nvPr/>
          </p:nvCxnSpPr>
          <p:spPr>
            <a:xfrm rot="10800000">
              <a:off x="2273000" y="2425875"/>
              <a:ext cx="0" cy="54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5" name="Google Shape;185;p32"/>
            <p:cNvSpPr/>
            <p:nvPr/>
          </p:nvSpPr>
          <p:spPr>
            <a:xfrm>
              <a:off x="2779050" y="1887525"/>
              <a:ext cx="538200" cy="538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</a:rPr>
                <a:t>1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86" name="Google Shape;186;p32"/>
            <p:cNvSpPr/>
            <p:nvPr/>
          </p:nvSpPr>
          <p:spPr>
            <a:xfrm>
              <a:off x="2905950" y="2971575"/>
              <a:ext cx="284400" cy="284400"/>
            </a:xfrm>
            <a:prstGeom prst="smileyFace">
              <a:avLst>
                <a:gd name="adj" fmla="val 4653"/>
              </a:avLst>
            </a:prstGeom>
            <a:solidFill>
              <a:srgbClr val="F1C232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7" name="Google Shape;187;p32"/>
            <p:cNvCxnSpPr>
              <a:stCxn id="186" idx="0"/>
              <a:endCxn id="185" idx="2"/>
            </p:cNvCxnSpPr>
            <p:nvPr/>
          </p:nvCxnSpPr>
          <p:spPr>
            <a:xfrm rot="10800000">
              <a:off x="3048150" y="2425875"/>
              <a:ext cx="0" cy="54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8" name="Google Shape;188;p32"/>
            <p:cNvSpPr/>
            <p:nvPr/>
          </p:nvSpPr>
          <p:spPr>
            <a:xfrm>
              <a:off x="3554200" y="1887525"/>
              <a:ext cx="538200" cy="5382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rgbClr val="FFFFFF"/>
                  </a:solidFill>
                </a:rPr>
                <a:t>1</a:t>
              </a:r>
              <a:endParaRPr b="1">
                <a:solidFill>
                  <a:srgbClr val="FFFFFF"/>
                </a:solidFill>
              </a:endParaRPr>
            </a:p>
          </p:txBody>
        </p:sp>
        <p:sp>
          <p:nvSpPr>
            <p:cNvPr id="189" name="Google Shape;189;p32"/>
            <p:cNvSpPr/>
            <p:nvPr/>
          </p:nvSpPr>
          <p:spPr>
            <a:xfrm>
              <a:off x="3681100" y="2971575"/>
              <a:ext cx="284400" cy="284400"/>
            </a:xfrm>
            <a:prstGeom prst="smileyFace">
              <a:avLst>
                <a:gd name="adj" fmla="val 4653"/>
              </a:avLst>
            </a:prstGeom>
            <a:solidFill>
              <a:srgbClr val="F1C232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0" name="Google Shape;190;p32"/>
            <p:cNvCxnSpPr>
              <a:stCxn id="189" idx="0"/>
              <a:endCxn id="188" idx="2"/>
            </p:cNvCxnSpPr>
            <p:nvPr/>
          </p:nvCxnSpPr>
          <p:spPr>
            <a:xfrm rot="10800000">
              <a:off x="3823300" y="2425875"/>
              <a:ext cx="0" cy="545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642090" y="1468480"/>
            <a:ext cx="2171700" cy="480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buClr>
                <a:schemeClr val="dk2"/>
              </a:buClr>
              <a:buSzPts val="1800"/>
            </a:pPr>
            <a:r>
              <a:rPr lang="ru-RU" sz="2400" dirty="0">
                <a:solidFill>
                  <a:schemeClr val="dk2"/>
                </a:solidFill>
              </a:rPr>
              <a:t>Ускорение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build="p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Оценка максимально достижимого параллелизма</a:t>
            </a:r>
            <a:endParaRPr/>
          </a:p>
        </p:txBody>
      </p:sp>
      <p:sp>
        <p:nvSpPr>
          <p:cNvPr id="196" name="Google Shape;196;p33"/>
          <p:cNvSpPr txBox="1">
            <a:spLocks noGrp="1"/>
          </p:cNvSpPr>
          <p:nvPr>
            <p:ph type="body" idx="1"/>
          </p:nvPr>
        </p:nvSpPr>
        <p:spPr>
          <a:xfrm>
            <a:off x="5373600" y="1883625"/>
            <a:ext cx="3497100" cy="10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Ускорение:</a:t>
            </a:r>
            <a:endParaRPr sz="2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/>
              <a:t>S = ?</a:t>
            </a:r>
            <a:endParaRPr sz="2400"/>
          </a:p>
        </p:txBody>
      </p:sp>
      <p:sp>
        <p:nvSpPr>
          <p:cNvPr id="197" name="Google Shape;197;p33"/>
          <p:cNvSpPr/>
          <p:nvPr/>
        </p:nvSpPr>
        <p:spPr>
          <a:xfrm>
            <a:off x="45360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98" name="Google Shape;198;p33"/>
          <p:cNvSpPr/>
          <p:nvPr/>
        </p:nvSpPr>
        <p:spPr>
          <a:xfrm>
            <a:off x="58050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9" name="Google Shape;199;p33"/>
          <p:cNvCxnSpPr>
            <a:stCxn id="198" idx="0"/>
            <a:endCxn id="197" idx="2"/>
          </p:cNvCxnSpPr>
          <p:nvPr/>
        </p:nvCxnSpPr>
        <p:spPr>
          <a:xfrm rot="10800000">
            <a:off x="72270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0" name="Google Shape;200;p33"/>
          <p:cNvSpPr/>
          <p:nvPr/>
        </p:nvSpPr>
        <p:spPr>
          <a:xfrm>
            <a:off x="122875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01" name="Google Shape;201;p33"/>
          <p:cNvSpPr/>
          <p:nvPr/>
        </p:nvSpPr>
        <p:spPr>
          <a:xfrm>
            <a:off x="135565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2" name="Google Shape;202;p33"/>
          <p:cNvCxnSpPr>
            <a:stCxn id="201" idx="0"/>
            <a:endCxn id="200" idx="2"/>
          </p:cNvCxnSpPr>
          <p:nvPr/>
        </p:nvCxnSpPr>
        <p:spPr>
          <a:xfrm rot="10800000">
            <a:off x="149785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3" name="Google Shape;203;p33"/>
          <p:cNvSpPr/>
          <p:nvPr/>
        </p:nvSpPr>
        <p:spPr>
          <a:xfrm>
            <a:off x="200390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04" name="Google Shape;204;p33"/>
          <p:cNvSpPr/>
          <p:nvPr/>
        </p:nvSpPr>
        <p:spPr>
          <a:xfrm>
            <a:off x="213080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5" name="Google Shape;205;p33"/>
          <p:cNvCxnSpPr>
            <a:stCxn id="204" idx="0"/>
            <a:endCxn id="203" idx="2"/>
          </p:cNvCxnSpPr>
          <p:nvPr/>
        </p:nvCxnSpPr>
        <p:spPr>
          <a:xfrm rot="10800000">
            <a:off x="227300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6" name="Google Shape;206;p33"/>
          <p:cNvSpPr/>
          <p:nvPr/>
        </p:nvSpPr>
        <p:spPr>
          <a:xfrm>
            <a:off x="277905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290595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" name="Google Shape;208;p33"/>
          <p:cNvCxnSpPr>
            <a:stCxn id="207" idx="0"/>
            <a:endCxn id="206" idx="2"/>
          </p:cNvCxnSpPr>
          <p:nvPr/>
        </p:nvCxnSpPr>
        <p:spPr>
          <a:xfrm rot="10800000">
            <a:off x="304815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9" name="Google Shape;209;p33"/>
          <p:cNvSpPr/>
          <p:nvPr/>
        </p:nvSpPr>
        <p:spPr>
          <a:xfrm>
            <a:off x="3554200" y="1887525"/>
            <a:ext cx="8415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383275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1" name="Google Shape;211;p33"/>
          <p:cNvCxnSpPr>
            <a:stCxn id="210" idx="0"/>
            <a:endCxn id="209" idx="2"/>
          </p:cNvCxnSpPr>
          <p:nvPr/>
        </p:nvCxnSpPr>
        <p:spPr>
          <a:xfrm rot="10800000">
            <a:off x="397495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Закон Амдала</a:t>
            </a:r>
            <a:endParaRPr dirty="0"/>
          </a:p>
        </p:txBody>
      </p:sp>
      <p:pic>
        <p:nvPicPr>
          <p:cNvPr id="217" name="Google Shape;217;p34" descr="762458af2db440689cc60f641ff03e4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25" y="1375924"/>
            <a:ext cx="3729675" cy="22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>
            <a:spLocks noGrp="1"/>
          </p:cNvSpPr>
          <p:nvPr>
            <p:ph type="body" idx="2"/>
          </p:nvPr>
        </p:nvSpPr>
        <p:spPr>
          <a:xfrm>
            <a:off x="4699819" y="1152475"/>
            <a:ext cx="413248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 dirty="0"/>
              <a:t>Sp</a:t>
            </a:r>
            <a:r>
              <a:rPr lang="en" dirty="0"/>
              <a:t> - ускорение</a:t>
            </a:r>
            <a:endParaRPr dirty="0"/>
          </a:p>
          <a:p>
            <a:pPr marL="0" indent="0">
              <a:spcBef>
                <a:spcPts val="1600"/>
              </a:spcBef>
              <a:buNone/>
            </a:pPr>
            <a:r>
              <a:rPr lang="ru-RU" b="1" dirty="0" smtClean="0"/>
              <a:t>α</a:t>
            </a:r>
            <a:r>
              <a:rPr lang="en" dirty="0" smtClean="0"/>
              <a:t> </a:t>
            </a:r>
            <a:r>
              <a:rPr lang="en" dirty="0"/>
              <a:t>- </a:t>
            </a:r>
            <a:r>
              <a:rPr lang="en" b="1" u="sng" dirty="0"/>
              <a:t>доля</a:t>
            </a:r>
            <a:r>
              <a:rPr lang="en" dirty="0"/>
              <a:t> последовательного кода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i="1" dirty="0"/>
              <a:t>p</a:t>
            </a:r>
            <a:r>
              <a:rPr lang="en" dirty="0"/>
              <a:t> - количество процессоров</a:t>
            </a:r>
            <a:endParaRPr dirty="0"/>
          </a:p>
          <a:p>
            <a:pPr lvl="0">
              <a:spcBef>
                <a:spcPts val="1600"/>
              </a:spcBef>
              <a:buAutoNum type="arabicPeriod"/>
            </a:pPr>
            <a:r>
              <a:rPr lang="en" dirty="0"/>
              <a:t>Чем больше </a:t>
            </a:r>
            <a:r>
              <a:rPr lang="ru-RU" b="1" dirty="0"/>
              <a:t>α</a:t>
            </a:r>
            <a:r>
              <a:rPr lang="en" dirty="0" smtClean="0"/>
              <a:t> </a:t>
            </a:r>
            <a:r>
              <a:rPr lang="en" dirty="0"/>
              <a:t>тем меньше ускорение</a:t>
            </a:r>
            <a:endParaRPr dirty="0"/>
          </a:p>
          <a:p>
            <a:pPr lvl="0">
              <a:buAutoNum type="arabicPeriod"/>
            </a:pPr>
            <a:r>
              <a:rPr lang="en" dirty="0"/>
              <a:t>Прирост эффективности вычислений зависит от алгоритма задачи и ограничен сверху для любой задачи с </a:t>
            </a:r>
            <a:r>
              <a:rPr lang="ru-RU" b="1" dirty="0"/>
              <a:t>α</a:t>
            </a:r>
            <a:r>
              <a:rPr lang="en" dirty="0" smtClean="0"/>
              <a:t> = </a:t>
            </a:r>
            <a:r>
              <a:rPr lang="en" dirty="0"/>
              <a:t>0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dirty="0"/>
              <a:t>Чем больше кода для </a:t>
            </a:r>
            <a:r>
              <a:rPr lang="en" b="1" dirty="0" smtClean="0"/>
              <a:t>синхронизации</a:t>
            </a:r>
            <a:r>
              <a:rPr lang="en" dirty="0" smtClean="0"/>
              <a:t> </a:t>
            </a:r>
            <a:r>
              <a:rPr lang="en" dirty="0"/>
              <a:t>тем меньше ускорение</a:t>
            </a:r>
            <a:endParaRPr dirty="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Оценка максимально достижимого параллелизма</a:t>
            </a:r>
            <a:endParaRPr/>
          </a:p>
        </p:txBody>
      </p:sp>
      <p:sp>
        <p:nvSpPr>
          <p:cNvPr id="224" name="Google Shape;224;p35"/>
          <p:cNvSpPr txBox="1">
            <a:spLocks noGrp="1"/>
          </p:cNvSpPr>
          <p:nvPr>
            <p:ph type="body" idx="1"/>
          </p:nvPr>
        </p:nvSpPr>
        <p:spPr>
          <a:xfrm>
            <a:off x="5373600" y="1883625"/>
            <a:ext cx="3497100" cy="19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Ускорение:</a:t>
            </a: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dirty="0"/>
              <a:t>1/S = 1/6 + 5/(6*5) = 1/3</a:t>
            </a: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dirty="0"/>
              <a:t>S = 3</a:t>
            </a:r>
            <a:endParaRPr sz="24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/>
              <a:t>   </a:t>
            </a:r>
            <a:endParaRPr sz="2400" dirty="0"/>
          </a:p>
        </p:txBody>
      </p:sp>
      <p:sp>
        <p:nvSpPr>
          <p:cNvPr id="225" name="Google Shape;225;p35"/>
          <p:cNvSpPr/>
          <p:nvPr/>
        </p:nvSpPr>
        <p:spPr>
          <a:xfrm>
            <a:off x="45360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6" name="Google Shape;226;p35"/>
          <p:cNvSpPr/>
          <p:nvPr/>
        </p:nvSpPr>
        <p:spPr>
          <a:xfrm>
            <a:off x="58050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7" name="Google Shape;227;p35"/>
          <p:cNvCxnSpPr>
            <a:stCxn id="226" idx="0"/>
            <a:endCxn id="225" idx="2"/>
          </p:cNvCxnSpPr>
          <p:nvPr/>
        </p:nvCxnSpPr>
        <p:spPr>
          <a:xfrm rot="10800000">
            <a:off x="72270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8" name="Google Shape;228;p35"/>
          <p:cNvSpPr/>
          <p:nvPr/>
        </p:nvSpPr>
        <p:spPr>
          <a:xfrm>
            <a:off x="122875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29" name="Google Shape;229;p35"/>
          <p:cNvSpPr/>
          <p:nvPr/>
        </p:nvSpPr>
        <p:spPr>
          <a:xfrm>
            <a:off x="135565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0" name="Google Shape;230;p35"/>
          <p:cNvCxnSpPr>
            <a:stCxn id="229" idx="0"/>
            <a:endCxn id="228" idx="2"/>
          </p:cNvCxnSpPr>
          <p:nvPr/>
        </p:nvCxnSpPr>
        <p:spPr>
          <a:xfrm rot="10800000">
            <a:off x="149785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1" name="Google Shape;231;p35"/>
          <p:cNvSpPr/>
          <p:nvPr/>
        </p:nvSpPr>
        <p:spPr>
          <a:xfrm>
            <a:off x="200390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2" name="Google Shape;232;p35"/>
          <p:cNvSpPr/>
          <p:nvPr/>
        </p:nvSpPr>
        <p:spPr>
          <a:xfrm>
            <a:off x="213080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3" name="Google Shape;233;p35"/>
          <p:cNvCxnSpPr>
            <a:stCxn id="232" idx="0"/>
            <a:endCxn id="231" idx="2"/>
          </p:cNvCxnSpPr>
          <p:nvPr/>
        </p:nvCxnSpPr>
        <p:spPr>
          <a:xfrm rot="10800000">
            <a:off x="227300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4" name="Google Shape;234;p35"/>
          <p:cNvSpPr/>
          <p:nvPr/>
        </p:nvSpPr>
        <p:spPr>
          <a:xfrm>
            <a:off x="2779050" y="1887525"/>
            <a:ext cx="5382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235" name="Google Shape;235;p35"/>
          <p:cNvSpPr/>
          <p:nvPr/>
        </p:nvSpPr>
        <p:spPr>
          <a:xfrm>
            <a:off x="290595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6" name="Google Shape;236;p35"/>
          <p:cNvCxnSpPr>
            <a:stCxn id="235" idx="0"/>
            <a:endCxn id="234" idx="2"/>
          </p:cNvCxnSpPr>
          <p:nvPr/>
        </p:nvCxnSpPr>
        <p:spPr>
          <a:xfrm rot="10800000">
            <a:off x="304815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p35"/>
          <p:cNvSpPr/>
          <p:nvPr/>
        </p:nvSpPr>
        <p:spPr>
          <a:xfrm>
            <a:off x="3554200" y="1887525"/>
            <a:ext cx="841500" cy="5382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FFFF"/>
                </a:solidFill>
              </a:rPr>
              <a:t>2</a:t>
            </a:r>
            <a:endParaRPr b="1" dirty="0">
              <a:solidFill>
                <a:srgbClr val="FFFFFF"/>
              </a:solidFill>
            </a:endParaRPr>
          </a:p>
        </p:txBody>
      </p:sp>
      <p:sp>
        <p:nvSpPr>
          <p:cNvPr id="238" name="Google Shape;238;p35"/>
          <p:cNvSpPr/>
          <p:nvPr/>
        </p:nvSpPr>
        <p:spPr>
          <a:xfrm>
            <a:off x="3832750" y="2971575"/>
            <a:ext cx="284400" cy="284400"/>
          </a:xfrm>
          <a:prstGeom prst="smileyFace">
            <a:avLst>
              <a:gd name="adj" fmla="val 4653"/>
            </a:avLst>
          </a:prstGeom>
          <a:solidFill>
            <a:srgbClr val="F1C232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9" name="Google Shape;239;p35"/>
          <p:cNvCxnSpPr>
            <a:stCxn id="238" idx="0"/>
            <a:endCxn id="237" idx="2"/>
          </p:cNvCxnSpPr>
          <p:nvPr/>
        </p:nvCxnSpPr>
        <p:spPr>
          <a:xfrm rot="10800000">
            <a:off x="3974950" y="2425875"/>
            <a:ext cx="0" cy="545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3" name="Прямоугольник 2"/>
          <p:cNvSpPr/>
          <p:nvPr/>
        </p:nvSpPr>
        <p:spPr>
          <a:xfrm>
            <a:off x="561838" y="3968961"/>
            <a:ext cx="76677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i="1" dirty="0"/>
              <a:t>Какое ускорение будет для десятерых моляров и десяти комнат одна из которых в два раза больше другой? </a:t>
            </a:r>
            <a:r>
              <a:rPr lang="ru-RU" i="1" dirty="0" smtClean="0"/>
              <a:t>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266628" y="4510911"/>
            <a:ext cx="4610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Ответ: 1/S = 1/11 + 1/11, S = 5.5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uiExpand="1" build="p"/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Пример. Задача вычисления общей суммы</a:t>
            </a:r>
            <a:endParaRPr/>
          </a:p>
        </p:txBody>
      </p:sp>
      <p:sp>
        <p:nvSpPr>
          <p:cNvPr id="257" name="Google Shape;257;p38"/>
          <p:cNvSpPr txBox="1">
            <a:spLocks noGrp="1"/>
          </p:cNvSpPr>
          <p:nvPr>
            <p:ph type="body" idx="1"/>
          </p:nvPr>
        </p:nvSpPr>
        <p:spPr>
          <a:xfrm>
            <a:off x="560654" y="1152475"/>
            <a:ext cx="817277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Традиционный алгоритм </a:t>
            </a:r>
            <a:r>
              <a:rPr lang="en" sz="1600" dirty="0" smtClean="0"/>
              <a:t>состоит </a:t>
            </a:r>
            <a:r>
              <a:rPr lang="en" sz="1600" dirty="0"/>
              <a:t>в последовательном суммировании элементов числового набора:</a:t>
            </a:r>
            <a:endParaRPr sz="1600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pic>
        <p:nvPicPr>
          <p:cNvPr id="258" name="Google Shape;2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400" y="2099807"/>
            <a:ext cx="2331372" cy="1677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3727" y="2233034"/>
            <a:ext cx="170497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>
            <a:spLocks noGrp="1"/>
          </p:cNvSpPr>
          <p:nvPr>
            <p:ph type="title"/>
          </p:nvPr>
        </p:nvSpPr>
        <p:spPr>
          <a:xfrm>
            <a:off x="311698" y="143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Последовательная вычислительная схема алгоритма</a:t>
            </a:r>
            <a:endParaRPr sz="2400" dirty="0"/>
          </a:p>
        </p:txBody>
      </p:sp>
      <p:pic>
        <p:nvPicPr>
          <p:cNvPr id="266" name="Google Shape;26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418175"/>
            <a:ext cx="5818600" cy="28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9"/>
          <p:cNvSpPr txBox="1"/>
          <p:nvPr/>
        </p:nvSpPr>
        <p:spPr>
          <a:xfrm>
            <a:off x="5493074" y="1097105"/>
            <a:ext cx="2835280" cy="15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" dirty="0"/>
              <a:t>На каждом “ярусе” ровно по одной операции</a:t>
            </a:r>
            <a:r>
              <a:rPr lang="ru-RU" dirty="0"/>
              <a:t> </a:t>
            </a:r>
            <a:r>
              <a:rPr lang="en" dirty="0"/>
              <a:t>то есть выполнить данную задачу параллельно не </a:t>
            </a:r>
            <a:r>
              <a:rPr lang="en" dirty="0" smtClean="0"/>
              <a:t>получиться</a:t>
            </a:r>
            <a:r>
              <a:rPr lang="ru-RU" dirty="0" smtClean="0"/>
              <a:t>.</a:t>
            </a:r>
          </a:p>
          <a:p>
            <a:pPr lvl="0">
              <a:buClr>
                <a:schemeClr val="dk1"/>
              </a:buClr>
              <a:buSzPts val="1100"/>
            </a:pPr>
            <a:endParaRPr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6002011" y="3401988"/>
            <a:ext cx="1976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Как распараллелить?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7" name="Google Shape;260;p38"/>
          <p:cNvSpPr txBox="1"/>
          <p:nvPr/>
        </p:nvSpPr>
        <p:spPr>
          <a:xfrm>
            <a:off x="361198" y="657005"/>
            <a:ext cx="8421600" cy="4401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FF0000"/>
                </a:solidFill>
              </a:rPr>
              <a:t>Пример</a:t>
            </a:r>
            <a:r>
              <a:rPr lang="en" sz="1100" dirty="0">
                <a:solidFill>
                  <a:schemeClr val="dk1"/>
                </a:solidFill>
              </a:rPr>
              <a:t> с площадью </a:t>
            </a:r>
            <a:r>
              <a:rPr lang="ru-RU" sz="1100" dirty="0" smtClean="0">
                <a:solidFill>
                  <a:schemeClr val="dk1"/>
                </a:solidFill>
              </a:rPr>
              <a:t>прямо</a:t>
            </a:r>
            <a:r>
              <a:rPr lang="en" sz="1100" dirty="0" smtClean="0">
                <a:solidFill>
                  <a:schemeClr val="dk1"/>
                </a:solidFill>
              </a:rPr>
              <a:t>угольника </a:t>
            </a:r>
            <a:r>
              <a:rPr lang="en" sz="1100" dirty="0">
                <a:solidFill>
                  <a:schemeClr val="dk1"/>
                </a:solidFill>
              </a:rPr>
              <a:t>был особенным в том смысле, что мы распараллеливали последовательный алгоритм!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002011" y="2430966"/>
            <a:ext cx="25987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Число операций</a:t>
            </a:r>
          </a:p>
          <a:p>
            <a:r>
              <a:rPr lang="en-US" sz="2000" b="1" dirty="0" smtClean="0"/>
              <a:t>K</a:t>
            </a:r>
            <a:r>
              <a:rPr lang="ru-RU" sz="2000" b="1" i="1" baseline="-25000" dirty="0" err="1" smtClean="0"/>
              <a:t>посл</a:t>
            </a:r>
            <a:r>
              <a:rPr lang="en-US" sz="2000" b="1" baseline="-25000" dirty="0" smtClean="0"/>
              <a:t> </a:t>
            </a:r>
            <a:r>
              <a:rPr lang="en-US" sz="2000" b="1" dirty="0" smtClean="0"/>
              <a:t>= n -1</a:t>
            </a:r>
            <a:endParaRPr lang="ru-RU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Каскадная схема суммирования</a:t>
            </a:r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Параллелизм алгоритма суммирования </a:t>
            </a:r>
            <a:r>
              <a:rPr lang="en" sz="1600" dirty="0" smtClean="0"/>
              <a:t>возмож</a:t>
            </a:r>
            <a:r>
              <a:rPr lang="ru-RU" sz="1600" dirty="0" err="1" smtClean="0"/>
              <a:t>ен</a:t>
            </a:r>
            <a:r>
              <a:rPr lang="en" sz="1600" dirty="0" smtClean="0"/>
              <a:t> </a:t>
            </a:r>
            <a:r>
              <a:rPr lang="en" sz="1600" dirty="0"/>
              <a:t>только при </a:t>
            </a:r>
            <a:r>
              <a:rPr lang="en" sz="1600" b="1" dirty="0"/>
              <a:t>ином способе построения процесса вычислений</a:t>
            </a:r>
            <a:r>
              <a:rPr lang="en" sz="1600" dirty="0"/>
              <a:t>, основанном на использовании ассоциативности операции сложения:</a:t>
            </a:r>
            <a:endParaRPr sz="1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 sz="1600" i="1" dirty="0"/>
              <a:t>на первой итерации каскадной схемы все исходные данные разбиваются на пары, и для каждой пары вычисляется сумма их значений,</a:t>
            </a:r>
            <a:endParaRPr sz="1600" i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600" i="1" dirty="0"/>
              <a:t>далее все полученные суммы также разбиваются на пары, и снова выполняется суммирование значений пар и т.д.</a:t>
            </a:r>
            <a:endParaRPr sz="1600" i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Каскадная схема алгоритма суммирования</a:t>
            </a:r>
            <a:endParaRPr dirty="0"/>
          </a:p>
        </p:txBody>
      </p:sp>
      <p:sp>
        <p:nvSpPr>
          <p:cNvPr id="279" name="Google Shape;279;p41"/>
          <p:cNvSpPr txBox="1">
            <a:spLocks noGrp="1"/>
          </p:cNvSpPr>
          <p:nvPr>
            <p:ph type="body" idx="1"/>
          </p:nvPr>
        </p:nvSpPr>
        <p:spPr>
          <a:xfrm>
            <a:off x="4588494" y="1013894"/>
            <a:ext cx="4763483" cy="3630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Тогда: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Общее </a:t>
            </a:r>
            <a:r>
              <a:rPr lang="en" dirty="0"/>
              <a:t>количество </a:t>
            </a:r>
            <a:r>
              <a:rPr lang="en" dirty="0" smtClean="0"/>
              <a:t>итераций</a:t>
            </a:r>
            <a:r>
              <a:rPr lang="ru-RU" dirty="0" smtClean="0"/>
              <a:t> (ярусов)</a:t>
            </a:r>
            <a:r>
              <a:rPr lang="en" dirty="0" smtClean="0"/>
              <a:t>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Общее количество операций </a:t>
            </a:r>
            <a:r>
              <a:rPr lang="en" dirty="0" smtClean="0"/>
              <a:t>суммирования: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 dirty="0" smtClean="0"/>
              <a:t>Общее </a:t>
            </a:r>
            <a:r>
              <a:rPr lang="en" b="1" dirty="0"/>
              <a:t>количество параллельных операций - ?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80" name="Google Shape;2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19" y="1618850"/>
            <a:ext cx="42195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244" y="1792699"/>
            <a:ext cx="13144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8525" y="3040550"/>
            <a:ext cx="381952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335881" y="1249518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>
                <a:solidFill>
                  <a:schemeClr val="tx1"/>
                </a:solidFill>
              </a:rPr>
              <a:t>Для удобства </a:t>
            </a:r>
            <a:r>
              <a:rPr lang="en-US" sz="1800" b="1" dirty="0" smtClean="0">
                <a:solidFill>
                  <a:srgbClr val="FF0000"/>
                </a:solidFill>
              </a:rPr>
              <a:t>n = 2</a:t>
            </a:r>
            <a:r>
              <a:rPr lang="en-US" sz="1800" b="1" baseline="30000" dirty="0" smtClean="0">
                <a:solidFill>
                  <a:srgbClr val="FF0000"/>
                </a:solidFill>
              </a:rPr>
              <a:t>k</a:t>
            </a:r>
            <a:endParaRPr lang="ru-RU" sz="1800" b="1" baseline="300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10519" y="4506073"/>
            <a:ext cx="33481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Число ярусов </a:t>
            </a:r>
            <a:r>
              <a:rPr lang="en-US" sz="2000" dirty="0" smtClean="0"/>
              <a:t>K</a:t>
            </a:r>
            <a:r>
              <a:rPr lang="ru-RU" sz="1800" i="1" dirty="0" smtClean="0"/>
              <a:t>пар =</a:t>
            </a:r>
            <a:r>
              <a:rPr lang="en-US" sz="1800" i="1" dirty="0" smtClean="0"/>
              <a:t> log</a:t>
            </a:r>
            <a:r>
              <a:rPr lang="en-US" sz="1800" i="1" baseline="-25000" dirty="0" smtClean="0"/>
              <a:t>2</a:t>
            </a:r>
            <a:r>
              <a:rPr lang="en-US" sz="1800" i="1" dirty="0" smtClean="0"/>
              <a:t>n</a:t>
            </a:r>
            <a:r>
              <a:rPr lang="ru-RU" sz="1800" i="1" dirty="0" smtClean="0"/>
              <a:t> </a:t>
            </a:r>
            <a:endParaRPr lang="ru-RU" sz="1800" i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sp>
        <p:nvSpPr>
          <p:cNvPr id="3" name="Прямоугольник 2"/>
          <p:cNvSpPr/>
          <p:nvPr/>
        </p:nvSpPr>
        <p:spPr>
          <a:xfrm>
            <a:off x="185038" y="3934455"/>
            <a:ext cx="4572000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/>
            <a:r>
              <a:rPr lang="ru-RU" sz="1200" dirty="0" smtClean="0"/>
              <a:t>Сколько </a:t>
            </a:r>
            <a:r>
              <a:rPr lang="ru-RU" sz="1200" dirty="0"/>
              <a:t>нужно процессоров чтобы выполнить данный алгоритм с максимальным параллелизмом?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083" y="4552240"/>
            <a:ext cx="187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</a:t>
            </a:r>
            <a:r>
              <a:rPr lang="en-US" sz="1600" b="1" dirty="0" smtClean="0"/>
              <a:t> = n/2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Показатели ускорения и эффективности</a:t>
            </a:r>
            <a:endParaRPr/>
          </a:p>
        </p:txBody>
      </p:sp>
      <p:pic>
        <p:nvPicPr>
          <p:cNvPr id="288" name="Google Shape;2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163" y="1879100"/>
            <a:ext cx="8047674" cy="14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598" y="1413075"/>
            <a:ext cx="2163325" cy="37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5692" y="3452300"/>
            <a:ext cx="3419475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380161" y="4004750"/>
            <a:ext cx="836664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Эффективность</a:t>
            </a:r>
            <a:r>
              <a:rPr lang="ru-RU" sz="1600" dirty="0"/>
              <a:t> использования процессоров уменьшается при увеличении количества суммируемых значений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Модифицированная каскадная схема</a:t>
            </a:r>
            <a:endParaRPr/>
          </a:p>
        </p:txBody>
      </p:sp>
      <p:sp>
        <p:nvSpPr>
          <p:cNvPr id="296" name="Google Shape;296;p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05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 smtClean="0"/>
              <a:t>Получ</a:t>
            </a:r>
            <a:r>
              <a:rPr lang="ru-RU" dirty="0" err="1" smtClean="0"/>
              <a:t>ить</a:t>
            </a:r>
            <a:r>
              <a:rPr lang="en" dirty="0" smtClean="0"/>
              <a:t> ненулев</a:t>
            </a:r>
            <a:r>
              <a:rPr lang="ru-RU" dirty="0" err="1" smtClean="0"/>
              <a:t>ую</a:t>
            </a:r>
            <a:r>
              <a:rPr lang="en" dirty="0" smtClean="0"/>
              <a:t> эффективност</a:t>
            </a:r>
            <a:r>
              <a:rPr lang="ru-RU" dirty="0" smtClean="0"/>
              <a:t>ь</a:t>
            </a:r>
            <a:r>
              <a:rPr lang="en" dirty="0" smtClean="0"/>
              <a:t> мож</a:t>
            </a:r>
            <a:r>
              <a:rPr lang="ru-RU" dirty="0" smtClean="0"/>
              <a:t>но</a:t>
            </a:r>
            <a:r>
              <a:rPr lang="en" dirty="0" smtClean="0"/>
              <a:t>, </a:t>
            </a:r>
            <a:r>
              <a:rPr lang="en" dirty="0"/>
              <a:t>например, при использовании модифицированной каскадной </a:t>
            </a:r>
            <a:r>
              <a:rPr lang="en" dirty="0" smtClean="0"/>
              <a:t>схемы</a:t>
            </a:r>
            <a:r>
              <a:rPr lang="ru-RU" dirty="0" smtClean="0"/>
              <a:t> </a:t>
            </a:r>
            <a:r>
              <a:rPr lang="ru-RU" sz="1600" dirty="0"/>
              <a:t>(см</a:t>
            </a:r>
            <a:r>
              <a:rPr lang="ru-RU" sz="1600" dirty="0" smtClean="0"/>
              <a:t>., </a:t>
            </a:r>
            <a:r>
              <a:rPr lang="fi-FI" sz="1600" dirty="0"/>
              <a:t>Bertsekas and Tsitsiklis (1989), </a:t>
            </a:r>
            <a:r>
              <a:rPr lang="ru-RU" sz="1600" dirty="0"/>
              <a:t>Воеводин В.В. и Воеводин </a:t>
            </a:r>
            <a:r>
              <a:rPr lang="ru-RU" sz="1600" dirty="0" err="1"/>
              <a:t>Вл.В</a:t>
            </a:r>
            <a:r>
              <a:rPr lang="ru-RU" sz="1600" dirty="0"/>
              <a:t>. (2002))</a:t>
            </a:r>
            <a:r>
              <a:rPr lang="en-US" sz="1600" dirty="0" smtClean="0"/>
              <a:t>.</a:t>
            </a:r>
            <a:r>
              <a:rPr lang="en-US" dirty="0" smtClean="0"/>
              <a:t> </a:t>
            </a:r>
            <a:r>
              <a:rPr lang="en" dirty="0" smtClean="0"/>
              <a:t>:</a:t>
            </a:r>
            <a:endParaRPr lang="ru-RU" dirty="0" smtClean="0"/>
          </a:p>
          <a:p>
            <a:pPr marL="0" lvl="0" indent="0"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97" name="Google Shape;29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343150"/>
            <a:ext cx="8403675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Модифицированная каскадная схема</a:t>
            </a:r>
            <a:endParaRPr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48" y="1038070"/>
            <a:ext cx="5929826" cy="29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3" name="TextBox 2"/>
          <p:cNvSpPr txBox="1"/>
          <p:nvPr/>
        </p:nvSpPr>
        <p:spPr>
          <a:xfrm>
            <a:off x="4270435" y="4072884"/>
            <a:ext cx="36662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n/log</a:t>
            </a:r>
            <a:r>
              <a:rPr lang="en-US" sz="1600" baseline="-25000" dirty="0" smtClean="0"/>
              <a:t>2</a:t>
            </a:r>
            <a:r>
              <a:rPr lang="en-US" sz="1600" dirty="0" smtClean="0"/>
              <a:t>n</a:t>
            </a:r>
            <a:r>
              <a:rPr lang="ru-RU" dirty="0" smtClean="0"/>
              <a:t> –</a:t>
            </a:r>
            <a:r>
              <a:rPr lang="en-US" dirty="0" smtClean="0"/>
              <a:t> </a:t>
            </a:r>
            <a:r>
              <a:rPr lang="ru-RU" dirty="0" smtClean="0"/>
              <a:t>число групп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67929" y="4078990"/>
            <a:ext cx="25074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log</a:t>
            </a:r>
            <a:r>
              <a:rPr lang="en-US" sz="1600" baseline="-25000" dirty="0" smtClean="0"/>
              <a:t>2</a:t>
            </a:r>
            <a:r>
              <a:rPr lang="en-US" sz="1600" dirty="0" smtClean="0"/>
              <a:t>n</a:t>
            </a:r>
            <a:r>
              <a:rPr lang="ru-RU" dirty="0" smtClean="0"/>
              <a:t> –</a:t>
            </a:r>
            <a:r>
              <a:rPr lang="en-US" dirty="0" smtClean="0"/>
              <a:t> </a:t>
            </a:r>
            <a:r>
              <a:rPr lang="ru-RU" dirty="0" smtClean="0"/>
              <a:t>число элементов в группе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6281874" y="4103661"/>
            <a:ext cx="2540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число процессоров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3450" y="1127639"/>
            <a:ext cx="415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K</a:t>
            </a:r>
            <a:r>
              <a:rPr lang="ru-RU" sz="1600" i="1" dirty="0" smtClean="0"/>
              <a:t>пар =</a:t>
            </a:r>
            <a:r>
              <a:rPr lang="en-US" sz="1600" i="1" dirty="0" smtClean="0"/>
              <a:t> log</a:t>
            </a:r>
            <a:r>
              <a:rPr lang="en-US" sz="1600" i="1" baseline="-25000" dirty="0" smtClean="0"/>
              <a:t>2</a:t>
            </a:r>
            <a:r>
              <a:rPr lang="ru-RU" sz="1600" i="1" dirty="0"/>
              <a:t>(</a:t>
            </a:r>
            <a:r>
              <a:rPr lang="en-US" sz="1600" i="1" dirty="0" smtClean="0"/>
              <a:t>n</a:t>
            </a:r>
            <a:r>
              <a:rPr lang="ru-RU" sz="1600" i="1" dirty="0" smtClean="0"/>
              <a:t>/</a:t>
            </a:r>
            <a:r>
              <a:rPr lang="en-US" sz="1600" i="1" dirty="0" smtClean="0"/>
              <a:t>log</a:t>
            </a:r>
            <a:r>
              <a:rPr lang="en-US" sz="1600" i="1" baseline="-25000" dirty="0" smtClean="0"/>
              <a:t>2</a:t>
            </a:r>
            <a:r>
              <a:rPr lang="en-US" sz="1600" i="1" dirty="0" smtClean="0"/>
              <a:t>n) –</a:t>
            </a:r>
            <a:r>
              <a:rPr lang="ru-RU" sz="1600" i="1" dirty="0" smtClean="0"/>
              <a:t> в каскадной схеме </a:t>
            </a:r>
            <a:endParaRPr lang="ru-RU" sz="1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Модифицированная каскадная схема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Для выполнения </a:t>
            </a:r>
            <a:r>
              <a:rPr lang="en" b="1" dirty="0"/>
              <a:t>первого этапа </a:t>
            </a:r>
            <a:r>
              <a:rPr lang="en" dirty="0"/>
              <a:t>требуется параллельных операций:            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Для выполнения </a:t>
            </a:r>
            <a:r>
              <a:rPr lang="en" b="1" dirty="0"/>
              <a:t>второго этапа </a:t>
            </a:r>
            <a:r>
              <a:rPr lang="en" dirty="0" smtClean="0"/>
              <a:t>необходимо</a:t>
            </a:r>
            <a:r>
              <a:rPr lang="ru-RU" dirty="0" smtClean="0"/>
              <a:t> параллельных операций</a:t>
            </a:r>
            <a:r>
              <a:rPr lang="en" dirty="0" smtClean="0"/>
              <a:t>: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Тогда: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310" name="Google Shape;31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090" y="1734255"/>
            <a:ext cx="832209" cy="334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86" y="2650040"/>
            <a:ext cx="2402621" cy="4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2300" y="3619500"/>
            <a:ext cx="37020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942908" y="1734255"/>
                <a:ext cx="5803900" cy="398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>
                    <a:solidFill>
                      <a:schemeClr val="dk2"/>
                    </a:solidFill>
                  </a:rPr>
                  <a:t>При использовании </a:t>
                </a:r>
                <a:r>
                  <a:rPr lang="ru-RU" sz="1800" dirty="0" smtClean="0">
                    <a:solidFill>
                      <a:schemeClr val="dk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80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ru-RU" sz="1800" i="1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u-RU" sz="1800" i="1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sz="180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u-RU" sz="180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dk2"/>
                    </a:solidFill>
                  </a:rPr>
                  <a:t> </a:t>
                </a:r>
                <a:r>
                  <a:rPr lang="ru-RU" sz="1800" dirty="0">
                    <a:solidFill>
                      <a:schemeClr val="dk2"/>
                    </a:solidFill>
                  </a:rPr>
                  <a:t>  процессоров.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908" y="1734255"/>
                <a:ext cx="5803900" cy="398186"/>
              </a:xfrm>
              <a:prstGeom prst="rect">
                <a:avLst/>
              </a:prstGeom>
              <a:blipFill rotWithShape="0">
                <a:blip r:embed="rId6"/>
                <a:stretch>
                  <a:fillRect l="-945" t="-7576" b="-15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42908" y="2714221"/>
                <a:ext cx="6078250" cy="398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800" dirty="0" smtClean="0">
                    <a:solidFill>
                      <a:schemeClr val="dk2"/>
                    </a:solidFill>
                  </a:rPr>
                  <a:t>При использовании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800" b="0" i="0" smtClean="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/</m:t>
                    </m:r>
                    <m:func>
                      <m:funcPr>
                        <m:ctrlPr>
                          <a:rPr lang="ru-RU" sz="1800" i="1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ru-RU" sz="1800" i="1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u-RU" sz="180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ru-RU" sz="1800">
                                <a:solidFill>
                                  <a:schemeClr val="dk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ru-RU" sz="1800">
                            <a:solidFill>
                              <a:schemeClr val="dk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ru-RU" sz="180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1800" b="0" i="0" smtClean="0">
                        <a:solidFill>
                          <a:schemeClr val="dk2"/>
                        </a:solidFill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800" dirty="0">
                    <a:solidFill>
                      <a:schemeClr val="dk2"/>
                    </a:solidFill>
                  </a:rPr>
                  <a:t> </a:t>
                </a:r>
                <a:r>
                  <a:rPr lang="ru-RU" sz="1800" dirty="0">
                    <a:solidFill>
                      <a:schemeClr val="dk2"/>
                    </a:solidFill>
                  </a:rPr>
                  <a:t>  процессоров.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908" y="2714221"/>
                <a:ext cx="6078250" cy="398186"/>
              </a:xfrm>
              <a:prstGeom prst="rect">
                <a:avLst/>
              </a:prstGeom>
              <a:blipFill rotWithShape="0">
                <a:blip r:embed="rId7"/>
                <a:stretch>
                  <a:fillRect l="-903" t="-7576" b="-15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Прямая со стрелкой 4"/>
          <p:cNvCxnSpPr/>
          <p:nvPr/>
        </p:nvCxnSpPr>
        <p:spPr>
          <a:xfrm>
            <a:off x="2343150" y="2132441"/>
            <a:ext cx="685800" cy="158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2437579" y="3138714"/>
            <a:ext cx="505328" cy="576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>
            <a:off x="4893469" y="2122159"/>
            <a:ext cx="1202531" cy="1592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Показатели ускорения и эффективности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8" name="Google Shape;318;p46"/>
          <p:cNvSpPr txBox="1">
            <a:spLocks noGrp="1"/>
          </p:cNvSpPr>
          <p:nvPr>
            <p:ph type="body" idx="1"/>
          </p:nvPr>
        </p:nvSpPr>
        <p:spPr>
          <a:xfrm>
            <a:off x="311700" y="2541588"/>
            <a:ext cx="8520600" cy="14044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 smtClean="0"/>
              <a:t>По сравнению с</a:t>
            </a:r>
            <a:r>
              <a:rPr lang="en" sz="1400" dirty="0" smtClean="0"/>
              <a:t> </a:t>
            </a:r>
            <a:r>
              <a:rPr lang="en" sz="1400" dirty="0"/>
              <a:t>обычной каскадной </a:t>
            </a:r>
            <a:r>
              <a:rPr lang="en" sz="1400" dirty="0" smtClean="0"/>
              <a:t>схемы </a:t>
            </a:r>
            <a:r>
              <a:rPr lang="en" sz="1400" dirty="0"/>
              <a:t>ускорение для </a:t>
            </a:r>
            <a:r>
              <a:rPr lang="ru-RU" sz="1400" dirty="0" smtClean="0"/>
              <a:t>модифицированного</a:t>
            </a:r>
            <a:r>
              <a:rPr lang="en" sz="1400" dirty="0" smtClean="0"/>
              <a:t> </a:t>
            </a:r>
            <a:r>
              <a:rPr lang="en" sz="1400" dirty="0"/>
              <a:t>параллельного алгоритма </a:t>
            </a:r>
            <a:r>
              <a:rPr lang="en" sz="1400" b="1" dirty="0"/>
              <a:t>уменьшилось в 2 </a:t>
            </a:r>
            <a:r>
              <a:rPr lang="en" sz="1400" b="1" dirty="0" smtClean="0"/>
              <a:t>раза</a:t>
            </a:r>
            <a:r>
              <a:rPr lang="en" sz="1400" dirty="0" smtClean="0"/>
              <a:t>, </a:t>
            </a:r>
            <a:r>
              <a:rPr lang="en" sz="1400" dirty="0"/>
              <a:t>однако </a:t>
            </a:r>
            <a:r>
              <a:rPr lang="en" sz="1400" dirty="0" smtClean="0"/>
              <a:t>эффективност</a:t>
            </a:r>
            <a:r>
              <a:rPr lang="ru-RU" sz="1400" dirty="0" smtClean="0"/>
              <a:t>ь</a:t>
            </a:r>
            <a:r>
              <a:rPr lang="en" sz="1400" dirty="0" smtClean="0"/>
              <a:t> </a:t>
            </a:r>
            <a:r>
              <a:rPr lang="en" sz="1400" dirty="0"/>
              <a:t>нового метода суммирования </a:t>
            </a:r>
            <a:r>
              <a:rPr lang="ru-RU" sz="1400" dirty="0" smtClean="0"/>
              <a:t>имеет</a:t>
            </a:r>
            <a:r>
              <a:rPr lang="en" sz="1400" dirty="0" smtClean="0"/>
              <a:t> </a:t>
            </a:r>
            <a:r>
              <a:rPr lang="en" sz="1400" dirty="0"/>
              <a:t>асимптотически </a:t>
            </a:r>
            <a:r>
              <a:rPr lang="en" sz="1400" b="1" dirty="0"/>
              <a:t>ненулевую оценку </a:t>
            </a:r>
            <a:r>
              <a:rPr lang="en" sz="1400" dirty="0"/>
              <a:t>снизу</a:t>
            </a:r>
            <a:r>
              <a:rPr lang="en" sz="1400" dirty="0" smtClean="0"/>
              <a:t>:</a:t>
            </a:r>
            <a:endParaRPr dirty="0"/>
          </a:p>
        </p:txBody>
      </p:sp>
      <p:pic>
        <p:nvPicPr>
          <p:cNvPr id="319" name="Google Shape;3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050" y="1331913"/>
            <a:ext cx="67818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2537" y="3352763"/>
            <a:ext cx="2796825" cy="3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  <p:sp>
        <p:nvSpPr>
          <p:cNvPr id="8" name="TextBox 7"/>
          <p:cNvSpPr txBox="1"/>
          <p:nvPr/>
        </p:nvSpPr>
        <p:spPr>
          <a:xfrm>
            <a:off x="1289353" y="3946077"/>
            <a:ext cx="489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Без учета реального времени выполнения операций и задержек при передачи сообщений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Показатели ускорения и эффективности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  <p:sp>
        <p:nvSpPr>
          <p:cNvPr id="4" name="Прямоугольник 3"/>
          <p:cNvSpPr/>
          <p:nvPr/>
        </p:nvSpPr>
        <p:spPr>
          <a:xfrm>
            <a:off x="283031" y="1428879"/>
            <a:ext cx="8549269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</a:rPr>
              <a:t>Попытки </a:t>
            </a:r>
            <a:r>
              <a:rPr lang="ru-RU" dirty="0">
                <a:latin typeface="Times New Roman" panose="02020603050405020304" pitchFamily="18" charset="0"/>
              </a:rPr>
              <a:t>повышения качества параллельных вычислений по одному из показателей (ускорению или эффективности) может привести к ухудшению ситуации по другому показателю, ибо </a:t>
            </a:r>
            <a:r>
              <a:rPr lang="ru-RU" b="1" dirty="0">
                <a:latin typeface="Times New Roman" panose="02020603050405020304" pitchFamily="18" charset="0"/>
              </a:rPr>
              <a:t>показатели качества параллельных вычислений являются противоречивыми</a:t>
            </a:r>
            <a:r>
              <a:rPr lang="ru-RU" dirty="0">
                <a:latin typeface="Times New Roman" panose="02020603050405020304" pitchFamily="18" charset="0"/>
              </a:rPr>
              <a:t>. </a:t>
            </a:r>
            <a:endParaRPr lang="ru-RU" dirty="0" smtClean="0">
              <a:latin typeface="Times New Roman" panose="02020603050405020304" pitchFamily="18" charset="0"/>
            </a:endParaRPr>
          </a:p>
          <a:p>
            <a:pPr algn="just"/>
            <a:endParaRPr lang="ru-RU" dirty="0" smtClean="0">
              <a:latin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</a:rPr>
              <a:t>Например:</a:t>
            </a:r>
          </a:p>
          <a:p>
            <a:pPr marL="285750" lvl="6" indent="-285750" algn="just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</a:rPr>
              <a:t>повышение </a:t>
            </a:r>
            <a:r>
              <a:rPr lang="ru-RU" dirty="0">
                <a:latin typeface="Times New Roman" panose="02020603050405020304" pitchFamily="18" charset="0"/>
              </a:rPr>
              <a:t>ускорения </a:t>
            </a:r>
            <a:r>
              <a:rPr lang="ru-RU" dirty="0" smtClean="0">
                <a:latin typeface="Times New Roman" panose="02020603050405020304" pitchFamily="18" charset="0"/>
              </a:rPr>
              <a:t>может </a:t>
            </a:r>
            <a:r>
              <a:rPr lang="ru-RU" dirty="0">
                <a:latin typeface="Times New Roman" panose="02020603050405020304" pitchFamily="18" charset="0"/>
              </a:rPr>
              <a:t>быть обеспечено за счет увеличения числа процессоров, что приводит, как правило, к падению эффективности</a:t>
            </a:r>
            <a:r>
              <a:rPr lang="ru-RU" dirty="0" smtClean="0">
                <a:latin typeface="Times New Roman" panose="02020603050405020304" pitchFamily="18" charset="0"/>
              </a:rPr>
              <a:t>.</a:t>
            </a:r>
          </a:p>
          <a:p>
            <a:pPr marL="285750" lvl="6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</a:rPr>
              <a:t>п</a:t>
            </a:r>
            <a:r>
              <a:rPr lang="ru-RU" dirty="0" smtClean="0">
                <a:latin typeface="Times New Roman" panose="02020603050405020304" pitchFamily="18" charset="0"/>
              </a:rPr>
              <a:t>овышение </a:t>
            </a:r>
            <a:r>
              <a:rPr lang="ru-RU" dirty="0">
                <a:latin typeface="Times New Roman" panose="02020603050405020304" pitchFamily="18" charset="0"/>
              </a:rPr>
              <a:t>эффективности достигается во многих случаях при уменьшении числа процессоров (в предельном случае идеальная эффективность </a:t>
            </a:r>
            <a:r>
              <a:rPr lang="ru-RU" dirty="0" smtClean="0">
                <a:latin typeface="Times New Roman" panose="02020603050405020304" pitchFamily="18" charset="0"/>
              </a:rPr>
              <a:t>1 легко </a:t>
            </a:r>
            <a:r>
              <a:rPr lang="ru-RU" dirty="0">
                <a:latin typeface="Times New Roman" panose="02020603050405020304" pitchFamily="18" charset="0"/>
              </a:rPr>
              <a:t>обеспечивается при использовании одного процессора</a:t>
            </a:r>
            <a:r>
              <a:rPr lang="ru-RU" dirty="0" smtClean="0">
                <a:latin typeface="Times New Roman" panose="02020603050405020304" pitchFamily="18" charset="0"/>
              </a:rPr>
              <a:t>).</a:t>
            </a:r>
          </a:p>
          <a:p>
            <a:pPr marL="285750" lvl="6" indent="-285750" algn="just">
              <a:buFont typeface="Arial" panose="020B0604020202020204" pitchFamily="34" charset="0"/>
              <a:buChar char="•"/>
            </a:pPr>
            <a:endParaRPr lang="ru-RU" dirty="0" smtClean="0">
              <a:latin typeface="Times New Roman" panose="02020603050405020304" pitchFamily="18" charset="0"/>
            </a:endParaRPr>
          </a:p>
          <a:p>
            <a:pPr algn="just"/>
            <a:r>
              <a:rPr lang="ru-RU" dirty="0" smtClean="0">
                <a:latin typeface="Times New Roman" panose="02020603050405020304" pitchFamily="18" charset="0"/>
              </a:rPr>
              <a:t>Разработка </a:t>
            </a:r>
            <a:r>
              <a:rPr lang="ru-RU" dirty="0">
                <a:latin typeface="Times New Roman" panose="02020603050405020304" pitchFamily="18" charset="0"/>
              </a:rPr>
              <a:t>методов параллельных вычислений часто предполагает выбор некоторого компромиссного варианта с учетом желаемых показателей ускорения и эффективности. </a:t>
            </a:r>
          </a:p>
        </p:txBody>
      </p:sp>
    </p:spTree>
    <p:extLst>
      <p:ext uri="{BB962C8B-B14F-4D97-AF65-F5344CB8AC3E}">
        <p14:creationId xmlns:p14="http://schemas.microsoft.com/office/powerpoint/2010/main" val="124461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blipFill rotWithShape="0">
          <a:blip xmlns:r="http://schemas.openxmlformats.org/officeDocument/2006/relationships" r:embed="rId1"/>
          <a:stretch>
            <a:fillRect b="-3947"/>
          </a:stretch>
        </a:blipFill>
      </a:spPr>
      <a:bodyPr wrap="square" rtlCol="0">
        <a:spAutoFit/>
      </a:bodyPr>
      <a:lstStyle>
        <a:defPPr>
          <a:defRPr sz="1050" dirty="0">
            <a:noFill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1537</Words>
  <Application>Microsoft Office PowerPoint</Application>
  <PresentationFormat>Экран (16:9)</PresentationFormat>
  <Paragraphs>236</Paragraphs>
  <Slides>36</Slides>
  <Notes>33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1" baseType="lpstr">
      <vt:lpstr>Arial</vt:lpstr>
      <vt:lpstr>Cambria Math</vt:lpstr>
      <vt:lpstr>Times New Roman</vt:lpstr>
      <vt:lpstr>Simple Light</vt:lpstr>
      <vt:lpstr>Диаграмма</vt:lpstr>
      <vt:lpstr>Параллельные алгоритмы</vt:lpstr>
      <vt:lpstr>Оценка максимально достижимого параллелизма</vt:lpstr>
      <vt:lpstr>Amdahl's Law (1967)</vt:lpstr>
      <vt:lpstr>Закон Амдала</vt:lpstr>
      <vt:lpstr>Закон Амдала</vt:lpstr>
      <vt:lpstr>Gustafson's law (1988)</vt:lpstr>
      <vt:lpstr>Закон Густафсона  </vt:lpstr>
      <vt:lpstr>Презентация PowerPoint</vt:lpstr>
      <vt:lpstr>Масштабируемость параллельных программ</vt:lpstr>
      <vt:lpstr>Масштабируемость  параллельных программ (Scalability parallel program)</vt:lpstr>
      <vt:lpstr>Идеальный параллельный алгоритм</vt:lpstr>
      <vt:lpstr>Граф алгоритма</vt:lpstr>
      <vt:lpstr>Последовательный алгоритм</vt:lpstr>
      <vt:lpstr>Параллельный алгоритм</vt:lpstr>
      <vt:lpstr>Граф алгоритма</vt:lpstr>
      <vt:lpstr>Пример: Вычисление площади прямоугольника</vt:lpstr>
      <vt:lpstr>Граф алгоритма</vt:lpstr>
      <vt:lpstr>Граф алгоритма </vt:lpstr>
      <vt:lpstr>Основные показатели эффективности параллельного алгоритма</vt:lpstr>
      <vt:lpstr>Ускорение и эффективность</vt:lpstr>
      <vt:lpstr>Стоимость и накладные расходы</vt:lpstr>
      <vt:lpstr>Пример</vt:lpstr>
      <vt:lpstr>Оценка максимально достижимого параллелизма </vt:lpstr>
      <vt:lpstr>Оценка максимально достижимого параллелизма</vt:lpstr>
      <vt:lpstr>Закон Амдала</vt:lpstr>
      <vt:lpstr>Оценка максимально достижимого параллелизма</vt:lpstr>
      <vt:lpstr>Пример. Задача вычисления общей суммы</vt:lpstr>
      <vt:lpstr>Последовательная вычислительная схема алгоритма</vt:lpstr>
      <vt:lpstr>Каскадная схема суммирования</vt:lpstr>
      <vt:lpstr>Каскадная схема алгоритма суммирования</vt:lpstr>
      <vt:lpstr>Показатели ускорения и эффективности</vt:lpstr>
      <vt:lpstr>Модифицированная каскадная схема</vt:lpstr>
      <vt:lpstr>Модифицированная каскадная схема</vt:lpstr>
      <vt:lpstr>Модифицированная каскадная схема </vt:lpstr>
      <vt:lpstr>Показатели ускорения и эффективности </vt:lpstr>
      <vt:lpstr>Показатели ускорения и эффективности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Параллельные алгоритмы</dc:title>
  <dc:creator>ystatarinov</dc:creator>
  <cp:lastModifiedBy>ystatarinov</cp:lastModifiedBy>
  <cp:revision>140</cp:revision>
  <dcterms:modified xsi:type="dcterms:W3CDTF">2025-10-14T09:52:53Z</dcterms:modified>
</cp:coreProperties>
</file>